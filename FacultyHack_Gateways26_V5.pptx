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27432000" cy="41148000"/>
  <p:notesSz cx="41148000" cy="2743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B3C15"/>
    <a:srgbClr val="55661A"/>
    <a:srgbClr val="DACB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02"/>
    <p:restoredTop sz="94610"/>
  </p:normalViewPr>
  <p:slideViewPr>
    <p:cSldViewPr snapToGrid="0" snapToObjects="1">
      <p:cViewPr>
        <p:scale>
          <a:sx n="50" d="100"/>
          <a:sy n="50" d="100"/>
        </p:scale>
        <p:origin x="90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2042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FacultyHack@Gateways 2026 poster template. Print size: 30 in wide x 45 in tall (portrait), within the Gateways 2026 conference max of 30in x 45in. Structure follows the actual format used by FacultyHack@Gateways 2025 participants: Abstract, Introduction, Course Goals, Grade Computation, Mentor Feedback Incorporated, Target Course Description, Key Content by Week, Science Gateway/HPC/AI Resources Used, Final Project/Deliverable, Project Goals, Expansion Ideas, References, Impact on User Community, Lessons Learned, a Before &amp; After syllabus comparison, and an Authors &amp; Mentors credit block. Every section has a short italic caption under its header describing what belongs there. Colors are the official brand palette from hackhpc.github.io/facultyhack-gateways26/resources. The footer QR code is a real, working code that links to the FacultyHack@Gateways 2026 event site — no need to regenerate it. Replace all [bracketed] placeholder text and swap the 'FH' circle for the official FacultyHack26_logo (PNG/SVG) from the resources page. The Abstract section on the poster should hold the same text submitted to the conference portal (up to 500 words, no references).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27432000" cy="4297680"/>
          </a:xfrm>
          <a:prstGeom prst="rect">
            <a:avLst/>
          </a:prstGeom>
          <a:solidFill>
            <a:srgbClr val="55661A"/>
          </a:solidFill>
          <a:ln/>
        </p:spPr>
        <p:txBody>
          <a:bodyPr/>
          <a:lstStyle/>
          <a:p>
            <a:endParaRPr lang="en-US"/>
          </a:p>
        </p:txBody>
      </p:sp>
      <p:sp>
        <p:nvSpPr>
          <p:cNvPr id="6" name="Text 4"/>
          <p:cNvSpPr/>
          <p:nvPr/>
        </p:nvSpPr>
        <p:spPr>
          <a:xfrm>
            <a:off x="5762170" y="654652"/>
            <a:ext cx="19884573" cy="2706682"/>
          </a:xfrm>
          <a:prstGeom prst="rect">
            <a:avLst/>
          </a:prstGeom>
          <a:noFill/>
          <a:ln/>
        </p:spPr>
        <p:txBody>
          <a:bodyPr wrap="square" lIns="0" tIns="0" rIns="0" bIns="0" rtlCol="0" anchor="ctr" anchorCtr="0"/>
          <a:lstStyle/>
          <a:p>
            <a:pPr marL="0" indent="0" algn="l">
              <a:lnSpc>
                <a:spcPct val="106000"/>
              </a:lnSpc>
              <a:buNone/>
            </a:pPr>
            <a:r>
              <a:rPr lang="en-US" sz="5400" b="1" dirty="0">
                <a:solidFill>
                  <a:srgbClr val="FFFFFF"/>
                </a:solidFill>
                <a:latin typeface="Cambria" pitchFamily="34" charset="0"/>
                <a:ea typeface="Cambria" pitchFamily="34" charset="-122"/>
                <a:cs typeface="Cambria" pitchFamily="34" charset="-120"/>
              </a:rPr>
              <a:t>CAP 4620: INTEGRATING HPC, AI &amp; SCIENCE GATEWAYS INTO ARTIFICIAL INTELLIGENCE</a:t>
            </a:r>
            <a:endParaRPr lang="en-US" sz="5400" dirty="0"/>
          </a:p>
        </p:txBody>
      </p:sp>
      <p:sp>
        <p:nvSpPr>
          <p:cNvPr id="7" name="Text 5"/>
          <p:cNvSpPr/>
          <p:nvPr/>
        </p:nvSpPr>
        <p:spPr>
          <a:xfrm>
            <a:off x="333828" y="3502152"/>
            <a:ext cx="23774400" cy="548640"/>
          </a:xfrm>
          <a:prstGeom prst="rect">
            <a:avLst/>
          </a:prstGeom>
          <a:noFill/>
          <a:ln/>
        </p:spPr>
        <p:txBody>
          <a:bodyPr wrap="square" lIns="0" tIns="0" rIns="0" bIns="0" rtlCol="0" anchor="t"/>
          <a:lstStyle/>
          <a:p>
            <a:pPr marL="0" indent="0" algn="l">
              <a:buNone/>
            </a:pPr>
            <a:r>
              <a:rPr lang="en-US" sz="1800" dirty="0">
                <a:solidFill>
                  <a:srgbClr val="D9CBB0"/>
                </a:solidFill>
                <a:latin typeface="Calibri" pitchFamily="34" charset="0"/>
                <a:ea typeface="Calibri" pitchFamily="34" charset="-122"/>
                <a:cs typeface="Calibri" pitchFamily="34" charset="-120"/>
              </a:rPr>
              <a:t>Dr. Yohn Parra-Bautista · Florida A&amp;M University  —  CAP 4620  —  FacultyHack@Gateways 2026</a:t>
            </a:r>
            <a:endParaRPr lang="en-US" sz="1800" dirty="0"/>
          </a:p>
        </p:txBody>
      </p:sp>
      <p:sp>
        <p:nvSpPr>
          <p:cNvPr id="8" name="Shape 6"/>
          <p:cNvSpPr/>
          <p:nvPr/>
        </p:nvSpPr>
        <p:spPr>
          <a:xfrm>
            <a:off x="914400" y="4553712"/>
            <a:ext cx="365760" cy="365760"/>
          </a:xfrm>
          <a:prstGeom prst="rect">
            <a:avLst/>
          </a:prstGeom>
          <a:solidFill>
            <a:srgbClr val="6E7D1F"/>
          </a:solidFill>
          <a:ln/>
        </p:spPr>
        <p:txBody>
          <a:bodyPr/>
          <a:lstStyle/>
          <a:p>
            <a:endParaRPr lang="en-US"/>
          </a:p>
        </p:txBody>
      </p:sp>
      <p:sp>
        <p:nvSpPr>
          <p:cNvPr id="9" name="Text 7"/>
          <p:cNvSpPr/>
          <p:nvPr/>
        </p:nvSpPr>
        <p:spPr>
          <a:xfrm>
            <a:off x="1508760" y="4480560"/>
            <a:ext cx="25008840" cy="548640"/>
          </a:xfrm>
          <a:prstGeom prst="rect">
            <a:avLst/>
          </a:prstGeom>
          <a:noFill/>
          <a:ln/>
        </p:spPr>
        <p:txBody>
          <a:bodyPr wrap="square" lIns="0" tIns="0" rIns="0" bIns="0" rtlCol="0" anchor="t"/>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ABSTRACT</a:t>
            </a:r>
            <a:endParaRPr lang="en-US" sz="2700" dirty="0"/>
          </a:p>
        </p:txBody>
      </p:sp>
      <p:sp>
        <p:nvSpPr>
          <p:cNvPr id="10" name="Text 8"/>
          <p:cNvSpPr/>
          <p:nvPr/>
        </p:nvSpPr>
        <p:spPr>
          <a:xfrm>
            <a:off x="1485900" y="5056022"/>
            <a:ext cx="25008840" cy="292608"/>
          </a:xfrm>
          <a:prstGeom prst="rect">
            <a:avLst/>
          </a:prstGeom>
          <a:noFill/>
          <a:ln/>
        </p:spPr>
        <p:txBody>
          <a:bodyPr wrap="square" lIns="0" tIns="0" rIns="0" bIns="0" rtlCol="0" anchor="t"/>
          <a:lstStyle/>
          <a:p>
            <a:pPr marL="0" indent="0" algn="l">
              <a:buNone/>
            </a:pPr>
            <a:r>
              <a:rPr lang="en-US" sz="1400" i="1" dirty="0">
                <a:solidFill>
                  <a:srgbClr val="8A7B68"/>
                </a:solidFill>
                <a:latin typeface="Calibri" pitchFamily="34" charset="0"/>
                <a:ea typeface="Calibri" pitchFamily="34" charset="-122"/>
                <a:cs typeface="Calibri" pitchFamily="34" charset="-120"/>
              </a:rPr>
              <a:t>Paste the same up-to-500-word abstract submitted to the conference portal — what you built, the impact on your user community, and lessons learned. No references.</a:t>
            </a:r>
            <a:endParaRPr lang="en-US" sz="1400" dirty="0"/>
          </a:p>
        </p:txBody>
      </p:sp>
      <p:sp>
        <p:nvSpPr>
          <p:cNvPr id="11" name="Shape 9"/>
          <p:cNvSpPr/>
          <p:nvPr/>
        </p:nvSpPr>
        <p:spPr>
          <a:xfrm>
            <a:off x="914400" y="5458968"/>
            <a:ext cx="25603200" cy="1920240"/>
          </a:xfrm>
          <a:prstGeom prst="roundRect">
            <a:avLst>
              <a:gd name="adj" fmla="val 4762"/>
            </a:avLst>
          </a:prstGeom>
          <a:solidFill>
            <a:srgbClr val="F1ECE0"/>
          </a:solidFill>
          <a:ln w="15875">
            <a:solidFill>
              <a:srgbClr val="E4DCCB"/>
            </a:solidFill>
            <a:prstDash val="dash"/>
          </a:ln>
        </p:spPr>
        <p:txBody>
          <a:bodyPr/>
          <a:lstStyle/>
          <a:p>
            <a:endParaRPr lang="en-US"/>
          </a:p>
        </p:txBody>
      </p:sp>
      <p:sp>
        <p:nvSpPr>
          <p:cNvPr id="12" name="Text 10"/>
          <p:cNvSpPr/>
          <p:nvPr/>
        </p:nvSpPr>
        <p:spPr>
          <a:xfrm>
            <a:off x="1188720" y="5458968"/>
            <a:ext cx="25054560" cy="1920240"/>
          </a:xfrm>
          <a:prstGeom prst="rect">
            <a:avLst/>
          </a:prstGeom>
          <a:noFill/>
          <a:ln/>
        </p:spPr>
        <p:txBody>
          <a:bodyPr wrap="square" lIns="0" tIns="0" rIns="0" bIns="0" rtlCol="0" anchor="ctr"/>
          <a:lstStyle/>
          <a:p>
            <a:pPr marL="0" indent="0">
              <a:spcAft>
                <a:spcPts val="600"/>
              </a:spcAft>
              <a:buNone/>
            </a:pPr>
            <a:r>
              <a:rPr lang="en-US" sz="1600" dirty="0">
                <a:solidFill>
                  <a:srgbClr val="3A2E22"/>
                </a:solidFill>
                <a:latin typeface="Calibri" pitchFamily="34" charset="0"/>
                <a:ea typeface="Calibri" pitchFamily="34" charset="-122"/>
                <a:cs typeface="Calibri" pitchFamily="34" charset="-120"/>
              </a:rPr>
              <a:t>Through FacultyHack@Gateways 2026, I redesigned CAP 4620: Artificial Intelligence at Florida A&amp;M University to bring shared research cyberinfrastructure into an undergraduate AI course that had previously relied on local machines and Google Colab. The redesign integrates the National Research Platform (NRP) as the course’s primary computing environment: students launch GPU-accelerated Jupyter notebooks through the NRP JupyterHub, train neural networks and CNNs on CPU versus GPU resources, run hyperparameter experiments in parallel, and compare NRP against Colab to see for themselves when research computing pays off. The final project was rebuilt as an AI + HPC experience in which students execute experiments on NRP, analyze both model and computational performance, and publish a reproducible workflow on GitHub.</a:t>
            </a:r>
            <a:endParaRPr lang="en-US" sz="1600" dirty="0"/>
          </a:p>
          <a:p>
            <a:pPr marL="0" indent="0">
              <a:spcAft>
                <a:spcPts val="600"/>
              </a:spcAft>
              <a:buNone/>
            </a:pPr>
            <a:r>
              <a:rPr lang="en-US" sz="1600" dirty="0">
                <a:solidFill>
                  <a:srgbClr val="3A2E22"/>
                </a:solidFill>
                <a:latin typeface="Calibri" pitchFamily="34" charset="0"/>
                <a:ea typeface="Calibri" pitchFamily="34" charset="-122"/>
                <a:cs typeface="Calibri" pitchFamily="34" charset="-120"/>
              </a:rPr>
              <a:t>This mattered for our students and program because most FAMU computing undergraduates had never touched research cyberinfrastructure before this course. The JupyterHub gateway let them work in a notebook environment they already knew while gaining authentic experience selecting resources, monitoring jobs, and reasoning about performance — skills that connect directly to graduate research and industry AI work, and that strengthen the pipeline our AI &amp; Data Science Cluster is building.</a:t>
            </a:r>
            <a:endParaRPr lang="en-US" sz="1600" dirty="0"/>
          </a:p>
          <a:p>
            <a:pPr marL="0" indent="0">
              <a:buNone/>
            </a:pPr>
            <a:r>
              <a:rPr lang="en-US" sz="1600" dirty="0">
                <a:solidFill>
                  <a:srgbClr val="3A2E22"/>
                </a:solidFill>
                <a:latin typeface="Calibri" pitchFamily="34" charset="0"/>
                <a:ea typeface="Calibri" pitchFamily="34" charset="-122"/>
                <a:cs typeface="Calibri" pitchFamily="34" charset="-120"/>
              </a:rPr>
              <a:t>Two honest lessons emerged. First, less is more: focusing on a single environment (NRP) rather than surveying several platforms gave students a deeper, more confident experience — the temptation to showcase everything is real, and resisting it made the course better. Second, cyberinfrastructure onboarding takes longer than expected; account setup, resource selection, and environment configuration deserve dedicated lab time early in the semester, not a quick walkthrough squeezed into an existing lesson.</a:t>
            </a:r>
            <a:endParaRPr lang="en-US" sz="1600" dirty="0"/>
          </a:p>
        </p:txBody>
      </p:sp>
      <p:sp>
        <p:nvSpPr>
          <p:cNvPr id="13" name="Shape 11"/>
          <p:cNvSpPr/>
          <p:nvPr/>
        </p:nvSpPr>
        <p:spPr>
          <a:xfrm>
            <a:off x="914400" y="7955280"/>
            <a:ext cx="365760" cy="365760"/>
          </a:xfrm>
          <a:prstGeom prst="rect">
            <a:avLst/>
          </a:prstGeom>
          <a:solidFill>
            <a:srgbClr val="6E7D1F"/>
          </a:solidFill>
          <a:ln/>
        </p:spPr>
        <p:txBody>
          <a:bodyPr/>
          <a:lstStyle/>
          <a:p>
            <a:endParaRPr lang="en-US"/>
          </a:p>
        </p:txBody>
      </p:sp>
      <p:sp>
        <p:nvSpPr>
          <p:cNvPr id="14" name="Text 12"/>
          <p:cNvSpPr/>
          <p:nvPr/>
        </p:nvSpPr>
        <p:spPr>
          <a:xfrm>
            <a:off x="1508760" y="7882128"/>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INTRODUCTION</a:t>
            </a:r>
            <a:endParaRPr lang="en-US" sz="2700" dirty="0"/>
          </a:p>
        </p:txBody>
      </p:sp>
      <p:sp>
        <p:nvSpPr>
          <p:cNvPr id="15" name="Text 13"/>
          <p:cNvSpPr/>
          <p:nvPr/>
        </p:nvSpPr>
        <p:spPr>
          <a:xfrm>
            <a:off x="1508760" y="8412480"/>
            <a:ext cx="7635240" cy="292608"/>
          </a:xfrm>
          <a:prstGeom prst="rect">
            <a:avLst/>
          </a:prstGeom>
          <a:noFill/>
          <a:ln/>
        </p:spPr>
        <p:txBody>
          <a:bodyPr wrap="square" lIns="0" tIns="0" rIns="0" bIns="0" rtlCol="0" anchor="t"/>
          <a:lstStyle/>
          <a:p>
            <a:pPr marL="0" indent="0" algn="l">
              <a:buNone/>
            </a:pPr>
            <a:r>
              <a:rPr lang="en-US" sz="1400" i="1" dirty="0">
                <a:solidFill>
                  <a:srgbClr val="8A7B68"/>
                </a:solidFill>
                <a:latin typeface="Calibri" pitchFamily="34" charset="0"/>
                <a:ea typeface="Calibri" pitchFamily="34" charset="-122"/>
                <a:cs typeface="Calibri" pitchFamily="34" charset="-120"/>
              </a:rPr>
              <a:t>Course context and what motivated this integration.</a:t>
            </a:r>
            <a:endParaRPr lang="en-US" sz="1400" dirty="0"/>
          </a:p>
        </p:txBody>
      </p:sp>
      <p:sp>
        <p:nvSpPr>
          <p:cNvPr id="16" name="Text 14"/>
          <p:cNvSpPr/>
          <p:nvPr/>
        </p:nvSpPr>
        <p:spPr>
          <a:xfrm>
            <a:off x="914400" y="8860536"/>
            <a:ext cx="8229600" cy="1234440"/>
          </a:xfrm>
          <a:prstGeom prst="rect">
            <a:avLst/>
          </a:prstGeom>
          <a:noFill/>
          <a:ln/>
        </p:spPr>
        <p:txBody>
          <a:bodyPr wrap="square" lIns="0" tIns="0" rIns="0" bIns="0" rtlCol="0" anchor="t"/>
          <a:lstStyle/>
          <a:p>
            <a:pPr marL="0" indent="0" algn="l">
              <a:lnSpc>
                <a:spcPct val="120000"/>
              </a:lnSpc>
              <a:buNone/>
            </a:pPr>
            <a:r>
              <a:rPr lang="en-US" sz="1800" dirty="0">
                <a:solidFill>
                  <a:srgbClr val="3A2E22"/>
                </a:solidFill>
                <a:latin typeface="Calibri" pitchFamily="34" charset="0"/>
                <a:ea typeface="Calibri" pitchFamily="34" charset="-122"/>
                <a:cs typeface="Calibri" pitchFamily="34" charset="-120"/>
              </a:rPr>
              <a:t>CAP 4620 is FAMU’s upper-level AI course, a key elective in the department’s AI and data science pathway. Before this redesign all ML work ran on laptops or Google Colab, and most students had never touched research cyberinfrastructure — skills expected in graduate research and industry AI. This project integrates the National Research Platform (NRP): GPU-accelerated Jupyter notebooks on shared cyberinfrastructure through a familiar gateway interface.</a:t>
            </a:r>
            <a:endParaRPr lang="en-US" sz="1800" dirty="0"/>
          </a:p>
        </p:txBody>
      </p:sp>
      <p:sp>
        <p:nvSpPr>
          <p:cNvPr id="17" name="Text 15"/>
          <p:cNvSpPr/>
          <p:nvPr/>
        </p:nvSpPr>
        <p:spPr>
          <a:xfrm>
            <a:off x="914400" y="10597896"/>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libri" pitchFamily="34" charset="0"/>
                <a:ea typeface="Calibri" pitchFamily="34" charset="-122"/>
                <a:cs typeface="Calibri" pitchFamily="34" charset="-120"/>
              </a:rPr>
              <a:t>Course Goals</a:t>
            </a:r>
            <a:endParaRPr lang="en-US" sz="2100" dirty="0">
              <a:solidFill>
                <a:schemeClr val="bg1"/>
              </a:solidFill>
            </a:endParaRPr>
          </a:p>
        </p:txBody>
      </p:sp>
      <p:sp>
        <p:nvSpPr>
          <p:cNvPr id="18" name="Text 16"/>
          <p:cNvSpPr/>
          <p:nvPr/>
        </p:nvSpPr>
        <p:spPr>
          <a:xfrm>
            <a:off x="914400" y="10996371"/>
            <a:ext cx="8229600" cy="1982419"/>
          </a:xfrm>
          <a:prstGeom prst="rect">
            <a:avLst/>
          </a:prstGeom>
          <a:noFill/>
          <a:ln/>
        </p:spPr>
        <p:txBody>
          <a:bodyPr wrap="square" lIns="0" tIns="0" rIns="0" bIns="0" rtlCol="0" anchor="t"/>
          <a:lstStyle/>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Master core AI/ML concepts — search, neural networks, deep learning, model evaluation — in Python</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Analyze how batch size, architecture, and CPU vs. GPU choices affect training time and performance</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Practice reproducibility: Git, documented environments, published workflows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Execute GPU-accelerated AI/ML workflows on the NRP JupyterHub</a:t>
            </a:r>
            <a:endParaRPr lang="en-US" sz="1800" dirty="0"/>
          </a:p>
        </p:txBody>
      </p:sp>
      <p:sp>
        <p:nvSpPr>
          <p:cNvPr id="19" name="Text 17"/>
          <p:cNvSpPr/>
          <p:nvPr/>
        </p:nvSpPr>
        <p:spPr>
          <a:xfrm>
            <a:off x="914400" y="13586155"/>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libri" pitchFamily="34" charset="0"/>
                <a:ea typeface="Calibri" pitchFamily="34" charset="-122"/>
                <a:cs typeface="Calibri" pitchFamily="34" charset="-120"/>
              </a:rPr>
              <a:t>Grading Scale</a:t>
            </a:r>
            <a:endParaRPr lang="en-US" sz="2100" dirty="0">
              <a:solidFill>
                <a:schemeClr val="bg1"/>
              </a:solidFill>
            </a:endParaRPr>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914400" y="14089075"/>
          <a:ext cx="8229600" cy="1854200"/>
        </p:xfrm>
        <a:graphic>
          <a:graphicData uri="http://schemas.openxmlformats.org/drawingml/2006/table">
            <a:tbl>
              <a:tblPr/>
              <a:tblGrid>
                <a:gridCol w="2633472">
                  <a:extLst>
                    <a:ext uri="{9D8B030D-6E8A-4147-A177-3AD203B41FA5}">
                      <a16:colId xmlns:a16="http://schemas.microsoft.com/office/drawing/2014/main" val="20000"/>
                    </a:ext>
                  </a:extLst>
                </a:gridCol>
                <a:gridCol w="5596128">
                  <a:extLst>
                    <a:ext uri="{9D8B030D-6E8A-4147-A177-3AD203B41FA5}">
                      <a16:colId xmlns:a16="http://schemas.microsoft.com/office/drawing/2014/main" val="20001"/>
                    </a:ext>
                  </a:extLst>
                </a:gridCol>
              </a:tblGrid>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90% – 100%</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0"/>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80% – 89%</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1"/>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70% – 79%</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2"/>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D</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60% – 69%</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3"/>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59% and Below</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4"/>
                  </a:ext>
                </a:extLst>
              </a:tr>
            </a:tbl>
          </a:graphicData>
        </a:graphic>
      </p:graphicFrame>
      <p:sp>
        <p:nvSpPr>
          <p:cNvPr id="21" name="Text 18"/>
          <p:cNvSpPr/>
          <p:nvPr/>
        </p:nvSpPr>
        <p:spPr>
          <a:xfrm>
            <a:off x="914400" y="16695115"/>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libri" pitchFamily="34" charset="0"/>
                <a:ea typeface="Calibri" pitchFamily="34" charset="-122"/>
                <a:cs typeface="Calibri" pitchFamily="34" charset="-120"/>
              </a:rPr>
              <a:t>Mentor Feedback Incorporated</a:t>
            </a:r>
            <a:endParaRPr lang="en-US" sz="2100" dirty="0">
              <a:solidFill>
                <a:schemeClr val="bg1"/>
              </a:solidFill>
            </a:endParaRPr>
          </a:p>
        </p:txBody>
      </p:sp>
      <p:sp>
        <p:nvSpPr>
          <p:cNvPr id="22" name="Text 19"/>
          <p:cNvSpPr/>
          <p:nvPr/>
        </p:nvSpPr>
        <p:spPr>
          <a:xfrm>
            <a:off x="914400" y="17198035"/>
            <a:ext cx="8229600" cy="1532534"/>
          </a:xfrm>
          <a:prstGeom prst="rect">
            <a:avLst/>
          </a:prstGeom>
          <a:noFill/>
          <a:ln/>
        </p:spPr>
        <p:txBody>
          <a:bodyPr wrap="square" lIns="0" tIns="0" rIns="0" bIns="0" rtlCol="0" anchor="t"/>
          <a:lstStyle/>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Embed HPC into existing AI/ML topics rather than a standalone unit — led to CPU vs. GPU, CNN training, and parallel hyperparameter labs built into current course topics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Give students a science gateway experience — led to adopting the NRP JupyterHub as the interface for selecting resources and executing workflows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Make cyberinfrastructure assessable — led to explicit HPC/gateway learning outcomes, computational performance analysis, and an AI + HPC final project</a:t>
            </a:r>
            <a:endParaRPr lang="en-US" sz="1800" dirty="0"/>
          </a:p>
        </p:txBody>
      </p:sp>
      <p:sp>
        <p:nvSpPr>
          <p:cNvPr id="23" name="Shape 20"/>
          <p:cNvSpPr/>
          <p:nvPr/>
        </p:nvSpPr>
        <p:spPr>
          <a:xfrm>
            <a:off x="9601200" y="7955280"/>
            <a:ext cx="365760" cy="365760"/>
          </a:xfrm>
          <a:prstGeom prst="rect">
            <a:avLst/>
          </a:prstGeom>
          <a:solidFill>
            <a:srgbClr val="6E7D1F"/>
          </a:solidFill>
          <a:ln/>
        </p:spPr>
        <p:txBody>
          <a:bodyPr/>
          <a:lstStyle/>
          <a:p>
            <a:endParaRPr lang="en-US"/>
          </a:p>
        </p:txBody>
      </p:sp>
      <p:sp>
        <p:nvSpPr>
          <p:cNvPr id="24" name="Text 21"/>
          <p:cNvSpPr/>
          <p:nvPr/>
        </p:nvSpPr>
        <p:spPr>
          <a:xfrm>
            <a:off x="10195560" y="7882128"/>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TARGET COURSE DESCRIPTION</a:t>
            </a:r>
            <a:endParaRPr lang="en-US" sz="2700" dirty="0"/>
          </a:p>
        </p:txBody>
      </p:sp>
      <p:sp>
        <p:nvSpPr>
          <p:cNvPr id="25" name="Text 22"/>
          <p:cNvSpPr/>
          <p:nvPr/>
        </p:nvSpPr>
        <p:spPr>
          <a:xfrm>
            <a:off x="10195560" y="8412480"/>
            <a:ext cx="7635240" cy="292608"/>
          </a:xfrm>
          <a:prstGeom prst="rect">
            <a:avLst/>
          </a:prstGeom>
          <a:noFill/>
          <a:ln/>
        </p:spPr>
        <p:txBody>
          <a:bodyPr wrap="square" lIns="0" tIns="0" rIns="0" bIns="0" rtlCol="0" anchor="t"/>
          <a:lstStyle/>
          <a:p>
            <a:pPr marL="0" indent="0" algn="l">
              <a:buNone/>
            </a:pPr>
            <a:r>
              <a:rPr lang="en-US" sz="1400" i="1" dirty="0">
                <a:solidFill>
                  <a:srgbClr val="8A7B68"/>
                </a:solidFill>
                <a:latin typeface="Calibri" pitchFamily="34" charset="0"/>
                <a:ea typeface="Calibri" pitchFamily="34" charset="-122"/>
                <a:cs typeface="Calibri" pitchFamily="34" charset="-120"/>
              </a:rPr>
              <a:t>Catalog-style facts: name, number, department, enrollment, prerequisites, repo.</a:t>
            </a:r>
            <a:endParaRPr lang="en-US" sz="1400" dirty="0"/>
          </a:p>
        </p:txBody>
      </p:sp>
      <p:graphicFrame>
        <p:nvGraphicFramePr>
          <p:cNvPr id="26" name="Table 1"/>
          <p:cNvGraphicFramePr>
            <a:graphicFrameLocks noGrp="1"/>
          </p:cNvGraphicFramePr>
          <p:nvPr>
            <p:extLst>
              <p:ext uri="{D42A27DB-BD31-4B8C-83A1-F6EECF244321}">
                <p14:modId xmlns:p14="http://schemas.microsoft.com/office/powerpoint/2010/main" val="1579011935"/>
              </p:ext>
            </p:extLst>
          </p:nvPr>
        </p:nvGraphicFramePr>
        <p:xfrm>
          <a:off x="9601200" y="8860536"/>
          <a:ext cx="8229600" cy="2225040"/>
        </p:xfrm>
        <a:graphic>
          <a:graphicData uri="http://schemas.openxmlformats.org/drawingml/2006/table">
            <a:tbl>
              <a:tblPr/>
              <a:tblGrid>
                <a:gridCol w="2633472">
                  <a:extLst>
                    <a:ext uri="{9D8B030D-6E8A-4147-A177-3AD203B41FA5}">
                      <a16:colId xmlns:a16="http://schemas.microsoft.com/office/drawing/2014/main" val="20000"/>
                    </a:ext>
                  </a:extLst>
                </a:gridCol>
                <a:gridCol w="5596128">
                  <a:extLst>
                    <a:ext uri="{9D8B030D-6E8A-4147-A177-3AD203B41FA5}">
                      <a16:colId xmlns:a16="http://schemas.microsoft.com/office/drawing/2014/main" val="20001"/>
                    </a:ext>
                  </a:extLst>
                </a:gridCol>
              </a:tblGrid>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Course Name</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Artificial Intelligence</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0"/>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Course Number</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CAP 4620 (Section 301)</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1"/>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Department</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Computer and Information Sciences</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2"/>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Enrollment</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[Anticipated Enrollment]</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3"/>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Prerequisites</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[Prerequisites, or None]</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4"/>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Project Repo</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github.com/Yohn-Parra</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5"/>
                  </a:ext>
                </a:extLst>
              </a:tr>
            </a:tbl>
          </a:graphicData>
        </a:graphic>
      </p:graphicFrame>
      <p:sp>
        <p:nvSpPr>
          <p:cNvPr id="27" name="Text 23"/>
          <p:cNvSpPr/>
          <p:nvPr/>
        </p:nvSpPr>
        <p:spPr>
          <a:xfrm>
            <a:off x="9601200" y="11887200"/>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libri" pitchFamily="34" charset="0"/>
                <a:ea typeface="Calibri" pitchFamily="34" charset="-122"/>
                <a:cs typeface="Calibri" pitchFamily="34" charset="-120"/>
              </a:rPr>
              <a:t>Course Description</a:t>
            </a:r>
            <a:endParaRPr lang="en-US" sz="2100" dirty="0">
              <a:solidFill>
                <a:schemeClr val="bg1"/>
              </a:solidFill>
            </a:endParaRPr>
          </a:p>
        </p:txBody>
      </p:sp>
      <p:sp>
        <p:nvSpPr>
          <p:cNvPr id="28" name="Text 24"/>
          <p:cNvSpPr/>
          <p:nvPr/>
        </p:nvSpPr>
        <p:spPr>
          <a:xfrm>
            <a:off x="9601200" y="12390120"/>
            <a:ext cx="8229600" cy="685800"/>
          </a:xfrm>
          <a:prstGeom prst="rect">
            <a:avLst/>
          </a:prstGeom>
          <a:noFill/>
          <a:ln/>
        </p:spPr>
        <p:txBody>
          <a:bodyPr wrap="square" lIns="0" tIns="0" rIns="0" bIns="0" rtlCol="0" anchor="t"/>
          <a:lstStyle/>
          <a:p>
            <a:pPr marL="0" indent="0" algn="l">
              <a:lnSpc>
                <a:spcPct val="120000"/>
              </a:lnSpc>
              <a:buNone/>
            </a:pPr>
            <a:r>
              <a:rPr lang="en-US" sz="1800" dirty="0">
                <a:solidFill>
                  <a:srgbClr val="3A2E22"/>
                </a:solidFill>
                <a:latin typeface="Calibri" pitchFamily="34" charset="0"/>
                <a:ea typeface="Calibri" pitchFamily="34" charset="-122"/>
                <a:cs typeface="Calibri" pitchFamily="34" charset="-120"/>
              </a:rPr>
              <a:t>An upper-level introduction to AI — intelligent agents, search, knowledge representation, machine learning, and neural networks — with hands-on model building in Python (Russell &amp; Norvig, 4th ed.) on NRP’s GPU-accelerated cyberinfrastructure.</a:t>
            </a:r>
            <a:endParaRPr lang="en-US" sz="1800" dirty="0"/>
          </a:p>
        </p:txBody>
      </p:sp>
      <p:sp>
        <p:nvSpPr>
          <p:cNvPr id="29" name="Text 25"/>
          <p:cNvSpPr/>
          <p:nvPr/>
        </p:nvSpPr>
        <p:spPr>
          <a:xfrm>
            <a:off x="9601200" y="13578840"/>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libri" pitchFamily="34" charset="0"/>
                <a:ea typeface="Calibri" pitchFamily="34" charset="-122"/>
                <a:cs typeface="Calibri" pitchFamily="34" charset="-120"/>
              </a:rPr>
              <a:t>Key Content by Week</a:t>
            </a:r>
            <a:endParaRPr lang="en-US" sz="2100" dirty="0">
              <a:solidFill>
                <a:schemeClr val="bg1"/>
              </a:solidFill>
            </a:endParaRPr>
          </a:p>
        </p:txBody>
      </p:sp>
      <p:sp>
        <p:nvSpPr>
          <p:cNvPr id="30" name="Text 26"/>
          <p:cNvSpPr/>
          <p:nvPr/>
        </p:nvSpPr>
        <p:spPr>
          <a:xfrm>
            <a:off x="9601200" y="14081760"/>
            <a:ext cx="8229600" cy="960120"/>
          </a:xfrm>
          <a:prstGeom prst="rect">
            <a:avLst/>
          </a:prstGeom>
          <a:noFill/>
          <a:ln/>
        </p:spPr>
        <p:txBody>
          <a:bodyPr wrap="square" lIns="0" tIns="0" rIns="0" bIns="0" rtlCol="0" anchor="t"/>
          <a:lstStyle/>
          <a:p>
            <a:pPr marL="0" indent="0" algn="l">
              <a:lnSpc>
                <a:spcPct val="120000"/>
              </a:lnSpc>
              <a:buNone/>
            </a:pPr>
            <a:r>
              <a:rPr lang="en-US" sz="1800" dirty="0">
                <a:solidFill>
                  <a:srgbClr val="3A2E22"/>
                </a:solidFill>
                <a:latin typeface="Calibri" pitchFamily="34" charset="0"/>
                <a:ea typeface="Calibri" pitchFamily="34" charset="-122"/>
                <a:cs typeface="Calibri" pitchFamily="34" charset="-120"/>
              </a:rPr>
              <a:t>Weeks 1–2: ML intro, Jupyter, EDA. Weeks 3–6: regression, classification, ensembles; hyperparameter tuning (grid search on NRP). Weeks 7–9: clustering, PCA, anomaly detection; proposals after Week 8. Weeks 10–13: neural nets, CNNs, RNNs, NLP — GPU labs on NRP; NRP vs. Colab. Weeks 14–15: RL, ethical AI, final presentations.</a:t>
            </a:r>
            <a:endParaRPr lang="en-US" sz="1800" dirty="0"/>
          </a:p>
        </p:txBody>
      </p:sp>
      <p:sp>
        <p:nvSpPr>
          <p:cNvPr id="31" name="Shape 27"/>
          <p:cNvSpPr/>
          <p:nvPr/>
        </p:nvSpPr>
        <p:spPr>
          <a:xfrm>
            <a:off x="9601200" y="15617952"/>
            <a:ext cx="365760" cy="365760"/>
          </a:xfrm>
          <a:prstGeom prst="rect">
            <a:avLst/>
          </a:prstGeom>
          <a:solidFill>
            <a:srgbClr val="6E7D1F"/>
          </a:solidFill>
          <a:ln/>
        </p:spPr>
        <p:txBody>
          <a:bodyPr/>
          <a:lstStyle/>
          <a:p>
            <a:endParaRPr lang="en-US"/>
          </a:p>
        </p:txBody>
      </p:sp>
      <p:sp>
        <p:nvSpPr>
          <p:cNvPr id="32" name="Text 28"/>
          <p:cNvSpPr/>
          <p:nvPr/>
        </p:nvSpPr>
        <p:spPr>
          <a:xfrm>
            <a:off x="10195560" y="15544800"/>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SCIENCE GATEWAY RESOURCES USED</a:t>
            </a:r>
            <a:endParaRPr lang="en-US" sz="2700" dirty="0"/>
          </a:p>
        </p:txBody>
      </p:sp>
      <p:sp>
        <p:nvSpPr>
          <p:cNvPr id="33" name="Text 29"/>
          <p:cNvSpPr/>
          <p:nvPr/>
        </p:nvSpPr>
        <p:spPr>
          <a:xfrm>
            <a:off x="10195560" y="16075152"/>
            <a:ext cx="7635240" cy="292608"/>
          </a:xfrm>
          <a:prstGeom prst="rect">
            <a:avLst/>
          </a:prstGeom>
          <a:noFill/>
          <a:ln/>
        </p:spPr>
        <p:txBody>
          <a:bodyPr wrap="square" lIns="0" tIns="0" rIns="0" bIns="0" rtlCol="0" anchor="t"/>
          <a:lstStyle/>
          <a:p>
            <a:pPr marL="0" indent="0" algn="l">
              <a:buNone/>
            </a:pPr>
            <a:r>
              <a:rPr lang="en-US" sz="1400" i="1" dirty="0">
                <a:solidFill>
                  <a:srgbClr val="8A7B68"/>
                </a:solidFill>
                <a:latin typeface="Calibri" pitchFamily="34" charset="0"/>
                <a:ea typeface="Calibri" pitchFamily="34" charset="-122"/>
                <a:cs typeface="Calibri" pitchFamily="34" charset="-120"/>
              </a:rPr>
              <a:t>The specific platform(s) used, who operates them, and why they fit.</a:t>
            </a:r>
            <a:endParaRPr lang="en-US" sz="1400" dirty="0"/>
          </a:p>
        </p:txBody>
      </p:sp>
      <p:sp>
        <p:nvSpPr>
          <p:cNvPr id="34" name="Text 30"/>
          <p:cNvSpPr/>
          <p:nvPr/>
        </p:nvSpPr>
        <p:spPr>
          <a:xfrm>
            <a:off x="9601200" y="16523208"/>
            <a:ext cx="8229600" cy="1234440"/>
          </a:xfrm>
          <a:prstGeom prst="rect">
            <a:avLst/>
          </a:prstGeom>
          <a:noFill/>
          <a:ln/>
        </p:spPr>
        <p:txBody>
          <a:bodyPr wrap="square" lIns="0" tIns="0" rIns="0" bIns="0" rtlCol="0" anchor="t"/>
          <a:lstStyle/>
          <a:p>
            <a:pPr marL="0" indent="0" algn="l">
              <a:lnSpc>
                <a:spcPct val="120000"/>
              </a:lnSpc>
              <a:buNone/>
            </a:pPr>
            <a:r>
              <a:rPr lang="en-US" sz="1800" dirty="0">
                <a:solidFill>
                  <a:srgbClr val="3A2E22"/>
                </a:solidFill>
                <a:latin typeface="Calibri" pitchFamily="34" charset="0"/>
                <a:ea typeface="Calibri" pitchFamily="34" charset="-122"/>
                <a:cs typeface="Calibri" pitchFamily="34" charset="-120"/>
              </a:rPr>
              <a:t>National Research Platform (NRP) — an NSF-supported national computing platform providing shared CPU/GPU resources via Kubernetes, operated by UC San Diego and partners. Students use the NRP JupyterHub to select resources and launch GPU-accelerated notebooks without touching the underlying infrastructure. Supporting resources: Cornell Virtual Workshop and HPC Carpentry.</a:t>
            </a:r>
            <a:endParaRPr lang="en-US" sz="1800" dirty="0"/>
          </a:p>
        </p:txBody>
      </p:sp>
      <p:sp>
        <p:nvSpPr>
          <p:cNvPr id="35" name="Shape 31"/>
          <p:cNvSpPr/>
          <p:nvPr/>
        </p:nvSpPr>
        <p:spPr>
          <a:xfrm>
            <a:off x="9601200" y="18260568"/>
            <a:ext cx="8229600" cy="3462122"/>
          </a:xfrm>
          <a:prstGeom prst="roundRect">
            <a:avLst>
              <a:gd name="adj" fmla="val 3571"/>
            </a:avLst>
          </a:prstGeom>
          <a:solidFill>
            <a:srgbClr val="F1ECE0"/>
          </a:solidFill>
          <a:ln w="15875">
            <a:solidFill>
              <a:srgbClr val="E4DCCB"/>
            </a:solidFill>
            <a:prstDash val="dash"/>
          </a:ln>
        </p:spPr>
        <p:txBody>
          <a:bodyPr/>
          <a:lstStyle/>
          <a:p>
            <a:endParaRPr lang="en-US"/>
          </a:p>
        </p:txBody>
      </p:sp>
      <p:sp>
        <p:nvSpPr>
          <p:cNvPr id="36" name="Text 32"/>
          <p:cNvSpPr/>
          <p:nvPr/>
        </p:nvSpPr>
        <p:spPr>
          <a:xfrm>
            <a:off x="9875520" y="18260568"/>
            <a:ext cx="7680960" cy="2560320"/>
          </a:xfrm>
          <a:prstGeom prst="rect">
            <a:avLst/>
          </a:prstGeom>
          <a:noFill/>
          <a:ln/>
        </p:spPr>
        <p:txBody>
          <a:bodyPr wrap="square" lIns="0" tIns="0" rIns="0" bIns="0" rtlCol="0" anchor="ctr"/>
          <a:lstStyle/>
          <a:p>
            <a:pPr marL="0" indent="0" algn="ctr">
              <a:buNone/>
            </a:pPr>
            <a:endParaRPr lang="en-US" sz="1600" dirty="0"/>
          </a:p>
        </p:txBody>
      </p:sp>
      <p:sp>
        <p:nvSpPr>
          <p:cNvPr id="37" name="Shape 33"/>
          <p:cNvSpPr/>
          <p:nvPr/>
        </p:nvSpPr>
        <p:spPr>
          <a:xfrm>
            <a:off x="18288000" y="7955280"/>
            <a:ext cx="365760" cy="365760"/>
          </a:xfrm>
          <a:prstGeom prst="rect">
            <a:avLst/>
          </a:prstGeom>
          <a:solidFill>
            <a:srgbClr val="6E7D1F"/>
          </a:solidFill>
          <a:ln/>
        </p:spPr>
        <p:txBody>
          <a:bodyPr/>
          <a:lstStyle/>
          <a:p>
            <a:endParaRPr lang="en-US"/>
          </a:p>
        </p:txBody>
      </p:sp>
      <p:sp>
        <p:nvSpPr>
          <p:cNvPr id="38" name="Text 34"/>
          <p:cNvSpPr/>
          <p:nvPr/>
        </p:nvSpPr>
        <p:spPr>
          <a:xfrm>
            <a:off x="18882360" y="7882128"/>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FINAL PROJECT / DELIVERABLE</a:t>
            </a:r>
            <a:endParaRPr lang="en-US" sz="2700" dirty="0"/>
          </a:p>
        </p:txBody>
      </p:sp>
      <p:sp>
        <p:nvSpPr>
          <p:cNvPr id="39" name="Text 35"/>
          <p:cNvSpPr/>
          <p:nvPr/>
        </p:nvSpPr>
        <p:spPr>
          <a:xfrm>
            <a:off x="18882360" y="8412480"/>
            <a:ext cx="7635240" cy="292608"/>
          </a:xfrm>
          <a:prstGeom prst="rect">
            <a:avLst/>
          </a:prstGeom>
          <a:noFill/>
          <a:ln/>
        </p:spPr>
        <p:txBody>
          <a:bodyPr wrap="square" lIns="0" tIns="0" rIns="0" bIns="0" rtlCol="0" anchor="t"/>
          <a:lstStyle/>
          <a:p>
            <a:pPr marL="0" indent="0" algn="l">
              <a:buNone/>
            </a:pPr>
            <a:r>
              <a:rPr lang="en-US" sz="1400" i="1" dirty="0">
                <a:solidFill>
                  <a:srgbClr val="8A7B68"/>
                </a:solidFill>
                <a:latin typeface="Calibri" pitchFamily="34" charset="0"/>
                <a:ea typeface="Calibri" pitchFamily="34" charset="-122"/>
                <a:cs typeface="Calibri" pitchFamily="34" charset="-120"/>
              </a:rPr>
              <a:t>What students build with the technology, step by step.</a:t>
            </a:r>
            <a:endParaRPr lang="en-US" sz="1400" dirty="0"/>
          </a:p>
        </p:txBody>
      </p:sp>
      <p:sp>
        <p:nvSpPr>
          <p:cNvPr id="40" name="Text 36"/>
          <p:cNvSpPr/>
          <p:nvPr/>
        </p:nvSpPr>
        <p:spPr>
          <a:xfrm>
            <a:off x="18288000" y="8860536"/>
            <a:ext cx="8229600" cy="426720"/>
          </a:xfrm>
          <a:prstGeom prst="rect">
            <a:avLst/>
          </a:prstGeom>
          <a:noFill/>
          <a:ln/>
        </p:spPr>
        <p:txBody>
          <a:bodyPr wrap="square" lIns="0" tIns="0" rIns="0" bIns="0" rtlCol="0" anchor="t"/>
          <a:lstStyle/>
          <a:p>
            <a:pPr marL="0" indent="0" algn="l">
              <a:lnSpc>
                <a:spcPct val="120000"/>
              </a:lnSpc>
              <a:buNone/>
            </a:pPr>
            <a:r>
              <a:rPr lang="en-US" sz="1900" dirty="0">
                <a:solidFill>
                  <a:srgbClr val="6B4A2A"/>
                </a:solidFill>
                <a:latin typeface="Calibri" pitchFamily="34" charset="0"/>
                <a:ea typeface="Calibri" pitchFamily="34" charset="-122"/>
                <a:cs typeface="Calibri" pitchFamily="34" charset="-120"/>
              </a:rPr>
              <a:t>AI + HPC Final Project: Reproducible Machine Learning on NRP</a:t>
            </a:r>
            <a:endParaRPr lang="en-US" sz="1900" dirty="0"/>
          </a:p>
        </p:txBody>
      </p:sp>
      <p:sp>
        <p:nvSpPr>
          <p:cNvPr id="41" name="Text 37"/>
          <p:cNvSpPr/>
          <p:nvPr/>
        </p:nvSpPr>
        <p:spPr>
          <a:xfrm>
            <a:off x="18288000" y="9790176"/>
            <a:ext cx="8229600" cy="2432304"/>
          </a:xfrm>
          <a:prstGeom prst="rect">
            <a:avLst/>
          </a:prstGeom>
          <a:noFill/>
          <a:ln/>
        </p:spPr>
        <p:txBody>
          <a:bodyPr wrap="square" lIns="0" tIns="0" rIns="0" bIns="0" rtlCol="0" anchor="t"/>
          <a:lstStyle/>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Define an AI/ML problem and prepare a real-world dataset</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Build the model in Jupyter with scikit-learn and TensorFlow/Keras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Train on NRP GPUs and compare execution against Google Colab</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Analyze model performance and computational performance (time, utilization, memory)</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Publish a reproducible GitHub workflow and present results in class</a:t>
            </a:r>
            <a:endParaRPr lang="en-US" sz="1800" dirty="0"/>
          </a:p>
        </p:txBody>
      </p:sp>
      <p:sp>
        <p:nvSpPr>
          <p:cNvPr id="42" name="Shape 38"/>
          <p:cNvSpPr/>
          <p:nvPr/>
        </p:nvSpPr>
        <p:spPr>
          <a:xfrm>
            <a:off x="18288000" y="12725400"/>
            <a:ext cx="8229600" cy="1645920"/>
          </a:xfrm>
          <a:prstGeom prst="roundRect">
            <a:avLst>
              <a:gd name="adj" fmla="val 5556"/>
            </a:avLst>
          </a:prstGeom>
          <a:solidFill>
            <a:srgbClr val="F1ECE0"/>
          </a:solidFill>
          <a:ln w="15875">
            <a:solidFill>
              <a:srgbClr val="E4DCCB"/>
            </a:solidFill>
            <a:prstDash val="dash"/>
          </a:ln>
        </p:spPr>
        <p:txBody>
          <a:bodyPr/>
          <a:lstStyle/>
          <a:p>
            <a:endParaRPr lang="en-US"/>
          </a:p>
        </p:txBody>
      </p:sp>
      <p:sp>
        <p:nvSpPr>
          <p:cNvPr id="43" name="Text 39"/>
          <p:cNvSpPr/>
          <p:nvPr/>
        </p:nvSpPr>
        <p:spPr>
          <a:xfrm>
            <a:off x="18562320" y="12725400"/>
            <a:ext cx="7680960" cy="1645920"/>
          </a:xfrm>
          <a:prstGeom prst="rect">
            <a:avLst/>
          </a:prstGeom>
          <a:noFill/>
          <a:ln/>
        </p:spPr>
        <p:txBody>
          <a:bodyPr wrap="square" lIns="0" tIns="0" rIns="0" bIns="0" rtlCol="0" anchor="ctr"/>
          <a:lstStyle/>
          <a:p>
            <a:pPr marL="0" indent="0" algn="ctr">
              <a:buNone/>
            </a:pPr>
            <a:endParaRPr lang="en-US" sz="1600" dirty="0"/>
          </a:p>
        </p:txBody>
      </p:sp>
      <p:sp>
        <p:nvSpPr>
          <p:cNvPr id="44" name="Text 40"/>
          <p:cNvSpPr/>
          <p:nvPr/>
        </p:nvSpPr>
        <p:spPr>
          <a:xfrm>
            <a:off x="18288000" y="14645640"/>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libri" pitchFamily="34" charset="0"/>
                <a:ea typeface="Calibri" pitchFamily="34" charset="-122"/>
                <a:cs typeface="Calibri" pitchFamily="34" charset="-120"/>
              </a:rPr>
              <a:t>Project Goals</a:t>
            </a:r>
            <a:endParaRPr lang="en-US" sz="2100" dirty="0">
              <a:solidFill>
                <a:schemeClr val="bg1"/>
              </a:solidFill>
            </a:endParaRPr>
          </a:p>
        </p:txBody>
      </p:sp>
      <p:sp>
        <p:nvSpPr>
          <p:cNvPr id="45" name="Text 41"/>
          <p:cNvSpPr/>
          <p:nvPr/>
        </p:nvSpPr>
        <p:spPr>
          <a:xfrm>
            <a:off x="18288000" y="15148560"/>
            <a:ext cx="8229600" cy="1532534"/>
          </a:xfrm>
          <a:prstGeom prst="rect">
            <a:avLst/>
          </a:prstGeom>
          <a:noFill/>
          <a:ln/>
        </p:spPr>
        <p:txBody>
          <a:bodyPr wrap="square" lIns="0" tIns="0" rIns="0" bIns="0" rtlCol="0" anchor="t"/>
          <a:lstStyle/>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Use NRP GPU resources to execute and evaluate computationally intensive AI/ML workflows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Use a science gateway (NRP JupyterHub) to access resources, execute workflows, and analyze results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Develop reproducible AI/ML workflows using Git and documented environments</a:t>
            </a:r>
            <a:endParaRPr lang="en-US" sz="1800" dirty="0"/>
          </a:p>
        </p:txBody>
      </p:sp>
      <p:sp>
        <p:nvSpPr>
          <p:cNvPr id="46" name="Shape 42"/>
          <p:cNvSpPr/>
          <p:nvPr/>
        </p:nvSpPr>
        <p:spPr>
          <a:xfrm>
            <a:off x="18288000" y="17257166"/>
            <a:ext cx="365760" cy="365760"/>
          </a:xfrm>
          <a:prstGeom prst="rect">
            <a:avLst/>
          </a:prstGeom>
          <a:solidFill>
            <a:srgbClr val="6E7D1F"/>
          </a:solidFill>
          <a:ln/>
        </p:spPr>
        <p:txBody>
          <a:bodyPr/>
          <a:lstStyle/>
          <a:p>
            <a:endParaRPr lang="en-US"/>
          </a:p>
        </p:txBody>
      </p:sp>
      <p:sp>
        <p:nvSpPr>
          <p:cNvPr id="47" name="Text 43"/>
          <p:cNvSpPr/>
          <p:nvPr/>
        </p:nvSpPr>
        <p:spPr>
          <a:xfrm>
            <a:off x="18882360" y="17184014"/>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EXPANSION IDEAS</a:t>
            </a:r>
            <a:endParaRPr lang="en-US" sz="2700" dirty="0"/>
          </a:p>
        </p:txBody>
      </p:sp>
      <p:sp>
        <p:nvSpPr>
          <p:cNvPr id="48" name="Text 44"/>
          <p:cNvSpPr/>
          <p:nvPr/>
        </p:nvSpPr>
        <p:spPr>
          <a:xfrm>
            <a:off x="18882360" y="17714366"/>
            <a:ext cx="7635240" cy="292608"/>
          </a:xfrm>
          <a:prstGeom prst="rect">
            <a:avLst/>
          </a:prstGeom>
          <a:noFill/>
          <a:ln/>
        </p:spPr>
        <p:txBody>
          <a:bodyPr wrap="square" lIns="0" tIns="0" rIns="0" bIns="0" rtlCol="0" anchor="t"/>
          <a:lstStyle/>
          <a:p>
            <a:pPr marL="0" indent="0" algn="l">
              <a:buNone/>
            </a:pPr>
            <a:r>
              <a:rPr lang="en-US" sz="1400" i="1" dirty="0">
                <a:solidFill>
                  <a:srgbClr val="8A7B68"/>
                </a:solidFill>
                <a:latin typeface="Calibri" pitchFamily="34" charset="0"/>
                <a:ea typeface="Calibri" pitchFamily="34" charset="-122"/>
                <a:cs typeface="Calibri" pitchFamily="34" charset="-120"/>
              </a:rPr>
              <a:t>How this integration could grow beyond this offering.</a:t>
            </a:r>
            <a:endParaRPr lang="en-US" sz="1400" dirty="0"/>
          </a:p>
        </p:txBody>
      </p:sp>
      <p:sp>
        <p:nvSpPr>
          <p:cNvPr id="49" name="Text 45"/>
          <p:cNvSpPr/>
          <p:nvPr/>
        </p:nvSpPr>
        <p:spPr>
          <a:xfrm>
            <a:off x="18288000" y="18162422"/>
            <a:ext cx="8229600" cy="1532534"/>
          </a:xfrm>
          <a:prstGeom prst="rect">
            <a:avLst/>
          </a:prstGeom>
          <a:noFill/>
          <a:ln/>
        </p:spPr>
        <p:txBody>
          <a:bodyPr wrap="square" lIns="0" tIns="0" rIns="0" bIns="0" rtlCol="0" anchor="t"/>
          <a:lstStyle/>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Extend labs to larger datasets and generative AI / LLM fine-tuning workloads on NRP GPUs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Feed into the FAMU AI &amp; Data Science Cluster pathway — REU projects and a Generative AI Essentials course</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Extend the model to partner institutions via the AUC Data Science Initiative</a:t>
            </a:r>
            <a:endParaRPr lang="en-US" sz="1800" dirty="0"/>
          </a:p>
        </p:txBody>
      </p:sp>
      <p:sp>
        <p:nvSpPr>
          <p:cNvPr id="50" name="Shape 46"/>
          <p:cNvSpPr/>
          <p:nvPr/>
        </p:nvSpPr>
        <p:spPr>
          <a:xfrm>
            <a:off x="18288000" y="20271029"/>
            <a:ext cx="365760" cy="365760"/>
          </a:xfrm>
          <a:prstGeom prst="rect">
            <a:avLst/>
          </a:prstGeom>
          <a:solidFill>
            <a:srgbClr val="6E7D1F"/>
          </a:solidFill>
          <a:ln/>
        </p:spPr>
        <p:txBody>
          <a:bodyPr/>
          <a:lstStyle/>
          <a:p>
            <a:endParaRPr lang="en-US"/>
          </a:p>
        </p:txBody>
      </p:sp>
      <p:sp>
        <p:nvSpPr>
          <p:cNvPr id="51" name="Text 47"/>
          <p:cNvSpPr/>
          <p:nvPr/>
        </p:nvSpPr>
        <p:spPr>
          <a:xfrm>
            <a:off x="18882360" y="20197877"/>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REFERENCES</a:t>
            </a:r>
            <a:endParaRPr lang="en-US" sz="2700" dirty="0"/>
          </a:p>
        </p:txBody>
      </p:sp>
      <p:sp>
        <p:nvSpPr>
          <p:cNvPr id="52" name="Text 48"/>
          <p:cNvSpPr/>
          <p:nvPr/>
        </p:nvSpPr>
        <p:spPr>
          <a:xfrm>
            <a:off x="18882360" y="20728229"/>
            <a:ext cx="7635240" cy="292608"/>
          </a:xfrm>
          <a:prstGeom prst="rect">
            <a:avLst/>
          </a:prstGeom>
          <a:noFill/>
          <a:ln/>
        </p:spPr>
        <p:txBody>
          <a:bodyPr wrap="square" lIns="0" tIns="0" rIns="0" bIns="0" rtlCol="0" anchor="t"/>
          <a:lstStyle/>
          <a:p>
            <a:pPr marL="0" indent="0" algn="l">
              <a:buNone/>
            </a:pPr>
            <a:r>
              <a:rPr lang="en-US" sz="1400" i="1" dirty="0">
                <a:solidFill>
                  <a:srgbClr val="8A7B68"/>
                </a:solidFill>
                <a:latin typeface="Calibri" pitchFamily="34" charset="0"/>
                <a:ea typeface="Calibri" pitchFamily="34" charset="-122"/>
                <a:cs typeface="Calibri" pitchFamily="34" charset="-120"/>
              </a:rPr>
              <a:t>Citations for any textbook, article, or resource used.</a:t>
            </a:r>
            <a:endParaRPr lang="en-US" sz="1400" dirty="0"/>
          </a:p>
        </p:txBody>
      </p:sp>
      <p:sp>
        <p:nvSpPr>
          <p:cNvPr id="53" name="Text 49"/>
          <p:cNvSpPr/>
          <p:nvPr/>
        </p:nvSpPr>
        <p:spPr>
          <a:xfrm>
            <a:off x="18288000" y="21176285"/>
            <a:ext cx="8229600" cy="624840"/>
          </a:xfrm>
          <a:prstGeom prst="rect">
            <a:avLst/>
          </a:prstGeom>
          <a:noFill/>
          <a:ln/>
        </p:spPr>
        <p:txBody>
          <a:bodyPr wrap="square" lIns="0" tIns="0" rIns="0" bIns="0" rtlCol="0" anchor="t"/>
          <a:lstStyle/>
          <a:p>
            <a:pPr marL="0" indent="0" algn="l">
              <a:lnSpc>
                <a:spcPct val="120000"/>
              </a:lnSpc>
              <a:buNone/>
            </a:pPr>
            <a:r>
              <a:rPr lang="en-US" sz="1600" dirty="0">
                <a:solidFill>
                  <a:srgbClr val="8A7B68"/>
                </a:solidFill>
                <a:latin typeface="Calibri" pitchFamily="34" charset="0"/>
                <a:ea typeface="Calibri" pitchFamily="34" charset="-122"/>
                <a:cs typeface="Calibri" pitchFamily="34" charset="-120"/>
              </a:rPr>
              <a:t>S. Russell and P. Norvig, Artificial Intelligence: A Modern Approach, 4th Edition, Pearson, 2021.  ·  National Research Platform, nationalresearchplatform.org.</a:t>
            </a:r>
            <a:endParaRPr lang="en-US" sz="1600" dirty="0"/>
          </a:p>
        </p:txBody>
      </p:sp>
      <p:sp>
        <p:nvSpPr>
          <p:cNvPr id="54" name="Shape 50"/>
          <p:cNvSpPr/>
          <p:nvPr/>
        </p:nvSpPr>
        <p:spPr>
          <a:xfrm>
            <a:off x="914400" y="22697237"/>
            <a:ext cx="365760" cy="365760"/>
          </a:xfrm>
          <a:prstGeom prst="rect">
            <a:avLst/>
          </a:prstGeom>
          <a:solidFill>
            <a:srgbClr val="6E7D1F"/>
          </a:solidFill>
          <a:ln/>
        </p:spPr>
        <p:txBody>
          <a:bodyPr/>
          <a:lstStyle/>
          <a:p>
            <a:endParaRPr lang="en-US"/>
          </a:p>
        </p:txBody>
      </p:sp>
      <p:sp>
        <p:nvSpPr>
          <p:cNvPr id="55" name="Text 51"/>
          <p:cNvSpPr/>
          <p:nvPr/>
        </p:nvSpPr>
        <p:spPr>
          <a:xfrm>
            <a:off x="1508760" y="22624085"/>
            <a:ext cx="117500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IMPACT ON STUDENTS</a:t>
            </a:r>
            <a:endParaRPr lang="en-US" sz="2700" dirty="0"/>
          </a:p>
        </p:txBody>
      </p:sp>
      <p:sp>
        <p:nvSpPr>
          <p:cNvPr id="56" name="Text 52"/>
          <p:cNvSpPr/>
          <p:nvPr/>
        </p:nvSpPr>
        <p:spPr>
          <a:xfrm>
            <a:off x="1508760" y="23154437"/>
            <a:ext cx="11750040" cy="292608"/>
          </a:xfrm>
          <a:prstGeom prst="rect">
            <a:avLst/>
          </a:prstGeom>
          <a:noFill/>
          <a:ln/>
        </p:spPr>
        <p:txBody>
          <a:bodyPr wrap="square" lIns="0" tIns="0" rIns="0" bIns="0" rtlCol="0" anchor="t"/>
          <a:lstStyle/>
          <a:p>
            <a:pPr marL="0" indent="0" algn="l">
              <a:buNone/>
            </a:pPr>
            <a:r>
              <a:rPr lang="en-US" sz="1400" i="1" dirty="0">
                <a:solidFill>
                  <a:srgbClr val="8A7B68"/>
                </a:solidFill>
                <a:latin typeface="Calibri" pitchFamily="34" charset="0"/>
                <a:ea typeface="Calibri" pitchFamily="34" charset="-122"/>
                <a:cs typeface="Calibri" pitchFamily="34" charset="-120"/>
              </a:rPr>
              <a:t>Who benefited, and what changed for them.</a:t>
            </a:r>
            <a:endParaRPr lang="en-US" sz="1400" dirty="0"/>
          </a:p>
        </p:txBody>
      </p:sp>
      <p:sp>
        <p:nvSpPr>
          <p:cNvPr id="57" name="Shape 53"/>
          <p:cNvSpPr/>
          <p:nvPr/>
        </p:nvSpPr>
        <p:spPr>
          <a:xfrm>
            <a:off x="14401800" y="22697237"/>
            <a:ext cx="365760" cy="365760"/>
          </a:xfrm>
          <a:prstGeom prst="rect">
            <a:avLst/>
          </a:prstGeom>
          <a:solidFill>
            <a:srgbClr val="6E7D1F"/>
          </a:solidFill>
          <a:ln/>
        </p:spPr>
        <p:txBody>
          <a:bodyPr/>
          <a:lstStyle/>
          <a:p>
            <a:endParaRPr lang="en-US"/>
          </a:p>
        </p:txBody>
      </p:sp>
      <p:sp>
        <p:nvSpPr>
          <p:cNvPr id="58" name="Text 54"/>
          <p:cNvSpPr/>
          <p:nvPr/>
        </p:nvSpPr>
        <p:spPr>
          <a:xfrm>
            <a:off x="14996160" y="22624085"/>
            <a:ext cx="11064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LESSONS LEARNED</a:t>
            </a:r>
            <a:endParaRPr lang="en-US" sz="2700" dirty="0"/>
          </a:p>
        </p:txBody>
      </p:sp>
      <p:sp>
        <p:nvSpPr>
          <p:cNvPr id="59" name="Text 55"/>
          <p:cNvSpPr/>
          <p:nvPr/>
        </p:nvSpPr>
        <p:spPr>
          <a:xfrm>
            <a:off x="14996160" y="23154437"/>
            <a:ext cx="11064240" cy="292608"/>
          </a:xfrm>
          <a:prstGeom prst="rect">
            <a:avLst/>
          </a:prstGeom>
          <a:noFill/>
          <a:ln/>
        </p:spPr>
        <p:txBody>
          <a:bodyPr wrap="square" lIns="0" tIns="0" rIns="0" bIns="0" rtlCol="0" anchor="t"/>
          <a:lstStyle/>
          <a:p>
            <a:pPr marL="0" indent="0" algn="l">
              <a:buNone/>
            </a:pPr>
            <a:r>
              <a:rPr lang="en-US" sz="1400" i="1" dirty="0">
                <a:solidFill>
                  <a:srgbClr val="8A7B68"/>
                </a:solidFill>
                <a:latin typeface="Calibri" pitchFamily="34" charset="0"/>
                <a:ea typeface="Calibri" pitchFamily="34" charset="-122"/>
                <a:cs typeface="Calibri" pitchFamily="34" charset="-120"/>
              </a:rPr>
              <a:t>What worked, what you'd change, what surprised you.</a:t>
            </a:r>
            <a:endParaRPr lang="en-US" sz="1400" dirty="0"/>
          </a:p>
        </p:txBody>
      </p:sp>
      <p:sp>
        <p:nvSpPr>
          <p:cNvPr id="60" name="Text 56"/>
          <p:cNvSpPr/>
          <p:nvPr/>
        </p:nvSpPr>
        <p:spPr>
          <a:xfrm>
            <a:off x="914400" y="23602493"/>
            <a:ext cx="12344400" cy="914400"/>
          </a:xfrm>
          <a:prstGeom prst="rect">
            <a:avLst/>
          </a:prstGeom>
          <a:noFill/>
          <a:ln/>
        </p:spPr>
        <p:txBody>
          <a:bodyPr wrap="square" lIns="0" tIns="0" rIns="0" bIns="0" rtlCol="0" anchor="t"/>
          <a:lstStyle/>
          <a:p>
            <a:pPr marL="0" indent="0" algn="l">
              <a:lnSpc>
                <a:spcPct val="120000"/>
              </a:lnSpc>
              <a:buNone/>
            </a:pPr>
            <a:r>
              <a:rPr lang="en-US" sz="1700" dirty="0">
                <a:solidFill>
                  <a:srgbClr val="3A2E22"/>
                </a:solidFill>
                <a:latin typeface="Calibri" pitchFamily="34" charset="0"/>
                <a:ea typeface="Calibri" pitchFamily="34" charset="-122"/>
                <a:cs typeface="Calibri" pitchFamily="34" charset="-120"/>
              </a:rPr>
              <a:t>Users are undergraduate computing majors in CAP 4620 at FAMU, most of whom had never used research cyberinfrastructure before this course. They gained GPU computing experience, confidence selecting and monitoring computational resources, and a published, reproducible AI workflow on GitHub — access and skills that connect directly to graduate research and industry AI roles and strengthen the department’s AI and data science pipeline.</a:t>
            </a:r>
            <a:endParaRPr lang="en-US" sz="1700" dirty="0"/>
          </a:p>
        </p:txBody>
      </p:sp>
      <p:sp>
        <p:nvSpPr>
          <p:cNvPr id="70" name="Text 66"/>
          <p:cNvSpPr/>
          <p:nvPr/>
        </p:nvSpPr>
        <p:spPr>
          <a:xfrm>
            <a:off x="14401800" y="23602493"/>
            <a:ext cx="11658600" cy="1532534"/>
          </a:xfrm>
          <a:prstGeom prst="rect">
            <a:avLst/>
          </a:prstGeom>
          <a:noFill/>
          <a:ln/>
        </p:spPr>
        <p:txBody>
          <a:bodyPr wrap="square" lIns="0" tIns="0" rIns="0" bIns="0" rtlCol="0" anchor="t"/>
          <a:lstStyle/>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What worked — focusing on a single environment (NRP) instead of surveying several platforms gave students a deeper, more confident experience</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What I’d change — cyberinfrastructure onboarding needs dedicated lab time early in the semester, not a walkthrough squeezed into an existing lesson</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What surprised me — how persuasive the side-by-side NRP vs. Google Colab comparison was; seeing the difference firsthand did more than any lecture</a:t>
            </a:r>
            <a:endParaRPr lang="en-US" sz="1800" dirty="0"/>
          </a:p>
        </p:txBody>
      </p:sp>
      <p:sp>
        <p:nvSpPr>
          <p:cNvPr id="71" name="Shape 67"/>
          <p:cNvSpPr/>
          <p:nvPr/>
        </p:nvSpPr>
        <p:spPr>
          <a:xfrm>
            <a:off x="914400" y="25385431"/>
            <a:ext cx="365760" cy="365760"/>
          </a:xfrm>
          <a:prstGeom prst="rect">
            <a:avLst/>
          </a:prstGeom>
          <a:solidFill>
            <a:srgbClr val="6E7D1F"/>
          </a:solidFill>
          <a:ln/>
        </p:spPr>
        <p:txBody>
          <a:bodyPr/>
          <a:lstStyle/>
          <a:p>
            <a:endParaRPr lang="en-US"/>
          </a:p>
        </p:txBody>
      </p:sp>
      <p:sp>
        <p:nvSpPr>
          <p:cNvPr id="72" name="Text 68"/>
          <p:cNvSpPr/>
          <p:nvPr/>
        </p:nvSpPr>
        <p:spPr>
          <a:xfrm>
            <a:off x="1508760" y="25312279"/>
            <a:ext cx="25008840" cy="548640"/>
          </a:xfrm>
          <a:prstGeom prst="rect">
            <a:avLst/>
          </a:prstGeom>
          <a:noFill/>
          <a:ln/>
        </p:spPr>
        <p:txBody>
          <a:bodyPr wrap="square" lIns="0" tIns="0" rIns="0" bIns="0" rtlCol="0" anchor="ctr" anchorCtr="0"/>
          <a:lstStyle/>
          <a:p>
            <a:pPr marL="0" indent="0" algn="l">
              <a:buNone/>
            </a:pPr>
            <a:r>
              <a:rPr lang="en-US" sz="2800" b="1" kern="0" spc="30" dirty="0">
                <a:solidFill>
                  <a:srgbClr val="6B4A2A"/>
                </a:solidFill>
                <a:latin typeface="Cambria" pitchFamily="34" charset="0"/>
                <a:ea typeface="Cambria" pitchFamily="34" charset="-122"/>
                <a:cs typeface="Cambria" pitchFamily="34" charset="-120"/>
              </a:rPr>
              <a:t>COURSE REDESIGN: BEFORE &amp; AFTER</a:t>
            </a:r>
            <a:endParaRPr lang="en-US" sz="2800" dirty="0"/>
          </a:p>
        </p:txBody>
      </p:sp>
      <p:sp>
        <p:nvSpPr>
          <p:cNvPr id="73" name="Text 69"/>
          <p:cNvSpPr/>
          <p:nvPr/>
        </p:nvSpPr>
        <p:spPr>
          <a:xfrm>
            <a:off x="1508760" y="25842631"/>
            <a:ext cx="25008840" cy="292608"/>
          </a:xfrm>
          <a:prstGeom prst="rect">
            <a:avLst/>
          </a:prstGeom>
          <a:noFill/>
          <a:ln/>
        </p:spPr>
        <p:txBody>
          <a:bodyPr wrap="square" lIns="0" tIns="0" rIns="0" bIns="0" rtlCol="0" anchor="t"/>
          <a:lstStyle/>
          <a:p>
            <a:pPr marL="0" indent="0" algn="l">
              <a:buNone/>
            </a:pPr>
            <a:r>
              <a:rPr lang="en-US" sz="1400" i="1" dirty="0">
                <a:solidFill>
                  <a:srgbClr val="8A7B68"/>
                </a:solidFill>
                <a:latin typeface="Calibri" pitchFamily="34" charset="0"/>
                <a:ea typeface="Calibri" pitchFamily="34" charset="-122"/>
                <a:cs typeface="Calibri" pitchFamily="34" charset="-120"/>
              </a:rPr>
              <a:t>A side-by-side look at the syllabus before and after this redesign.</a:t>
            </a:r>
            <a:endParaRPr lang="en-US" sz="1400" dirty="0"/>
          </a:p>
        </p:txBody>
      </p:sp>
      <p:sp>
        <p:nvSpPr>
          <p:cNvPr id="74" name="Shape 70"/>
          <p:cNvSpPr/>
          <p:nvPr/>
        </p:nvSpPr>
        <p:spPr>
          <a:xfrm>
            <a:off x="914400" y="26276198"/>
            <a:ext cx="12527280" cy="7357535"/>
          </a:xfrm>
          <a:prstGeom prst="roundRect">
            <a:avLst>
              <a:gd name="adj" fmla="val 2500"/>
            </a:avLst>
          </a:prstGeom>
          <a:solidFill>
            <a:srgbClr val="F1ECE0"/>
          </a:solidFill>
          <a:ln w="28575">
            <a:solidFill>
              <a:srgbClr val="5B3C15"/>
            </a:solidFill>
          </a:ln>
        </p:spPr>
        <p:txBody>
          <a:bodyPr/>
          <a:lstStyle/>
          <a:p>
            <a:endParaRPr lang="en-US"/>
          </a:p>
        </p:txBody>
      </p:sp>
      <p:sp>
        <p:nvSpPr>
          <p:cNvPr id="75" name="Text 71"/>
          <p:cNvSpPr/>
          <p:nvPr/>
        </p:nvSpPr>
        <p:spPr>
          <a:xfrm>
            <a:off x="1234440" y="26557022"/>
            <a:ext cx="11887200" cy="502920"/>
          </a:xfrm>
          <a:prstGeom prst="rect">
            <a:avLst/>
          </a:prstGeom>
          <a:noFill/>
          <a:ln/>
        </p:spPr>
        <p:txBody>
          <a:bodyPr wrap="square" lIns="0" tIns="0" rIns="0" bIns="0" rtlCol="0" anchor="ctr"/>
          <a:lstStyle/>
          <a:p>
            <a:pPr marL="0" indent="0">
              <a:buNone/>
            </a:pPr>
            <a:r>
              <a:rPr lang="en-US" sz="2200" b="1" dirty="0">
                <a:solidFill>
                  <a:srgbClr val="6B4A2A"/>
                </a:solidFill>
                <a:latin typeface="Cambria" pitchFamily="34" charset="0"/>
                <a:ea typeface="Cambria" pitchFamily="34" charset="-122"/>
                <a:cs typeface="Cambria" pitchFamily="34" charset="-120"/>
              </a:rPr>
              <a:t>INITIAL SYLLABUS</a:t>
            </a:r>
            <a:endParaRPr lang="en-US" sz="2200" dirty="0"/>
          </a:p>
        </p:txBody>
      </p:sp>
      <p:sp>
        <p:nvSpPr>
          <p:cNvPr id="76" name="Text 72"/>
          <p:cNvSpPr/>
          <p:nvPr/>
        </p:nvSpPr>
        <p:spPr>
          <a:xfrm>
            <a:off x="1234440" y="27242822"/>
            <a:ext cx="11887200" cy="5044642"/>
          </a:xfrm>
          <a:prstGeom prst="rect">
            <a:avLst/>
          </a:prstGeom>
          <a:noFill/>
          <a:ln/>
        </p:spPr>
        <p:txBody>
          <a:bodyPr wrap="square" lIns="0" tIns="0" rIns="0" bIns="0" rtlCol="0" anchor="t"/>
          <a:lstStyle/>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Covered AI foundations and ML entirely on personal laptops and Google Colab</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Final project asked students to develop an AI application, with no computational-resource requirements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Missing: access to research cyberinfrastructure, GPU computing, and performance analysis</a:t>
            </a:r>
            <a:endParaRPr lang="en-US" sz="1800" dirty="0"/>
          </a:p>
        </p:txBody>
      </p:sp>
      <p:sp>
        <p:nvSpPr>
          <p:cNvPr id="77" name="Shape 73"/>
          <p:cNvSpPr/>
          <p:nvPr/>
        </p:nvSpPr>
        <p:spPr>
          <a:xfrm>
            <a:off x="13990320" y="26225600"/>
            <a:ext cx="12527280" cy="11420247"/>
          </a:xfrm>
          <a:prstGeom prst="roundRect">
            <a:avLst>
              <a:gd name="adj" fmla="val 2500"/>
            </a:avLst>
          </a:prstGeom>
          <a:solidFill>
            <a:srgbClr val="ECEFDD"/>
          </a:solidFill>
          <a:ln w="28575">
            <a:solidFill>
              <a:srgbClr val="55661A"/>
            </a:solidFill>
          </a:ln>
        </p:spPr>
        <p:txBody>
          <a:bodyPr/>
          <a:lstStyle/>
          <a:p>
            <a:endParaRPr lang="en-US"/>
          </a:p>
        </p:txBody>
      </p:sp>
      <p:sp>
        <p:nvSpPr>
          <p:cNvPr id="78" name="Text 74"/>
          <p:cNvSpPr/>
          <p:nvPr/>
        </p:nvSpPr>
        <p:spPr>
          <a:xfrm>
            <a:off x="14310360" y="26557022"/>
            <a:ext cx="11887200" cy="502920"/>
          </a:xfrm>
          <a:prstGeom prst="rect">
            <a:avLst/>
          </a:prstGeom>
          <a:noFill/>
          <a:ln/>
        </p:spPr>
        <p:txBody>
          <a:bodyPr wrap="square" lIns="0" tIns="0" rIns="0" bIns="0" rtlCol="0" anchor="ctr"/>
          <a:lstStyle/>
          <a:p>
            <a:pPr marL="0" indent="0">
              <a:buNone/>
            </a:pPr>
            <a:r>
              <a:rPr lang="en-US" sz="2200" b="1" dirty="0">
                <a:solidFill>
                  <a:srgbClr val="55661A"/>
                </a:solidFill>
                <a:latin typeface="Cambria" pitchFamily="34" charset="0"/>
                <a:ea typeface="Cambria" pitchFamily="34" charset="-122"/>
                <a:cs typeface="Cambria" pitchFamily="34" charset="-120"/>
              </a:rPr>
              <a:t>MODIFIED SYLLABUS</a:t>
            </a:r>
            <a:endParaRPr lang="en-US" sz="2200" dirty="0"/>
          </a:p>
        </p:txBody>
      </p:sp>
      <p:sp>
        <p:nvSpPr>
          <p:cNvPr id="79" name="Text 75"/>
          <p:cNvSpPr/>
          <p:nvPr/>
        </p:nvSpPr>
        <p:spPr>
          <a:xfrm>
            <a:off x="14310360" y="27242822"/>
            <a:ext cx="11887200" cy="5042204"/>
          </a:xfrm>
          <a:prstGeom prst="rect">
            <a:avLst/>
          </a:prstGeom>
          <a:noFill/>
          <a:ln/>
        </p:spPr>
        <p:txBody>
          <a:bodyPr wrap="square" lIns="0" tIns="0" rIns="0" bIns="0" rtlCol="0" anchor="t"/>
          <a:lstStyle/>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Added NRP JupyterHub labs: CPU vs. GPU comparisons, GPU-accelerated CNN training, parallel hyperparameter experiments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NRP is introduced mid-semester and anchors the final AI + HPC project after Week 8</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Assessment now includes computational performance analysis and a published, reproducible GitHub workflow</a:t>
            </a:r>
            <a:endParaRPr lang="en-US" sz="1800" dirty="0"/>
          </a:p>
        </p:txBody>
      </p:sp>
      <p:sp>
        <p:nvSpPr>
          <p:cNvPr id="80" name="Shape 76"/>
          <p:cNvSpPr/>
          <p:nvPr/>
        </p:nvSpPr>
        <p:spPr>
          <a:xfrm>
            <a:off x="914400" y="34396039"/>
            <a:ext cx="365760" cy="365760"/>
          </a:xfrm>
          <a:prstGeom prst="rect">
            <a:avLst/>
          </a:prstGeom>
          <a:solidFill>
            <a:srgbClr val="6E7D1F"/>
          </a:solidFill>
          <a:ln/>
        </p:spPr>
        <p:txBody>
          <a:bodyPr/>
          <a:lstStyle/>
          <a:p>
            <a:endParaRPr lang="en-US"/>
          </a:p>
        </p:txBody>
      </p:sp>
      <p:sp>
        <p:nvSpPr>
          <p:cNvPr id="81" name="Text 77"/>
          <p:cNvSpPr/>
          <p:nvPr/>
        </p:nvSpPr>
        <p:spPr>
          <a:xfrm>
            <a:off x="1508760" y="34322887"/>
            <a:ext cx="25008840" cy="548640"/>
          </a:xfrm>
          <a:prstGeom prst="rect">
            <a:avLst/>
          </a:prstGeom>
          <a:noFill/>
          <a:ln/>
        </p:spPr>
        <p:txBody>
          <a:bodyPr wrap="square" lIns="0" tIns="0" rIns="0" bIns="0" rtlCol="0" anchor="ctr" anchorCtr="0"/>
          <a:lstStyle/>
          <a:p>
            <a:pPr marL="0" indent="0" algn="l">
              <a:buNone/>
            </a:pPr>
            <a:r>
              <a:rPr lang="en-US" sz="2800" b="1" kern="0" spc="30" dirty="0">
                <a:solidFill>
                  <a:srgbClr val="6B4A2A"/>
                </a:solidFill>
                <a:latin typeface="Cambria" pitchFamily="34" charset="0"/>
                <a:ea typeface="Cambria" pitchFamily="34" charset="-122"/>
                <a:cs typeface="Cambria" pitchFamily="34" charset="-120"/>
              </a:rPr>
              <a:t>AUTHORS &amp; MENTORS</a:t>
            </a:r>
            <a:endParaRPr lang="en-US" sz="2800" dirty="0"/>
          </a:p>
        </p:txBody>
      </p:sp>
      <p:sp>
        <p:nvSpPr>
          <p:cNvPr id="82" name="Text 78"/>
          <p:cNvSpPr/>
          <p:nvPr/>
        </p:nvSpPr>
        <p:spPr>
          <a:xfrm>
            <a:off x="1508760" y="34853239"/>
            <a:ext cx="25008840" cy="292608"/>
          </a:xfrm>
          <a:prstGeom prst="rect">
            <a:avLst/>
          </a:prstGeom>
          <a:noFill/>
          <a:ln/>
        </p:spPr>
        <p:txBody>
          <a:bodyPr wrap="square" lIns="0" tIns="0" rIns="0" bIns="0" rtlCol="0" anchor="t"/>
          <a:lstStyle/>
          <a:p>
            <a:pPr marL="0" indent="0" algn="l">
              <a:buNone/>
            </a:pPr>
            <a:r>
              <a:rPr lang="en-US" sz="1400" i="1" dirty="0">
                <a:solidFill>
                  <a:srgbClr val="8A7B68"/>
                </a:solidFill>
                <a:latin typeface="Calibri" pitchFamily="34" charset="0"/>
                <a:ea typeface="Calibri" pitchFamily="34" charset="-122"/>
                <a:cs typeface="Calibri" pitchFamily="34" charset="-120"/>
              </a:rPr>
              <a:t>Credit the faculty participant and Gateways mentor(s): photo, role, institution, email.</a:t>
            </a:r>
            <a:endParaRPr lang="en-US" sz="1400" dirty="0"/>
          </a:p>
        </p:txBody>
      </p:sp>
      <p:sp>
        <p:nvSpPr>
          <p:cNvPr id="83" name="Shape 79"/>
          <p:cNvSpPr/>
          <p:nvPr/>
        </p:nvSpPr>
        <p:spPr>
          <a:xfrm>
            <a:off x="914400" y="35438455"/>
            <a:ext cx="1005840" cy="1005840"/>
          </a:xfrm>
          <a:prstGeom prst="ellipse">
            <a:avLst/>
          </a:prstGeom>
          <a:solidFill>
            <a:srgbClr val="F1ECE0"/>
          </a:solidFill>
          <a:ln w="12700">
            <a:solidFill>
              <a:srgbClr val="E4DCCB"/>
            </a:solidFill>
            <a:prstDash val="solid"/>
          </a:ln>
        </p:spPr>
        <p:txBody>
          <a:bodyPr/>
          <a:lstStyle/>
          <a:p>
            <a:endParaRPr lang="en-US"/>
          </a:p>
        </p:txBody>
      </p:sp>
      <p:sp>
        <p:nvSpPr>
          <p:cNvPr id="84" name="Text 80"/>
          <p:cNvSpPr/>
          <p:nvPr/>
        </p:nvSpPr>
        <p:spPr>
          <a:xfrm>
            <a:off x="914400" y="35438455"/>
            <a:ext cx="1005840" cy="1005840"/>
          </a:xfrm>
          <a:prstGeom prst="rect">
            <a:avLst/>
          </a:prstGeom>
          <a:noFill/>
          <a:ln/>
        </p:spPr>
        <p:txBody>
          <a:bodyPr wrap="square" lIns="0" tIns="0" rIns="0" bIns="0" rtlCol="0" anchor="ctr"/>
          <a:lstStyle/>
          <a:p>
            <a:pPr marL="0" indent="0" algn="ctr">
              <a:buNone/>
            </a:pPr>
            <a:endParaRPr lang="en-US" sz="1200" dirty="0"/>
          </a:p>
        </p:txBody>
      </p:sp>
      <p:sp>
        <p:nvSpPr>
          <p:cNvPr id="85" name="Text 81"/>
          <p:cNvSpPr/>
          <p:nvPr/>
        </p:nvSpPr>
        <p:spPr>
          <a:xfrm>
            <a:off x="2103120" y="35438455"/>
            <a:ext cx="7040880" cy="1828800"/>
          </a:xfrm>
          <a:prstGeom prst="rect">
            <a:avLst/>
          </a:prstGeom>
          <a:noFill/>
          <a:ln/>
        </p:spPr>
        <p:txBody>
          <a:bodyPr wrap="square" lIns="0" tIns="0" rIns="0" bIns="0" rtlCol="0" anchor="t"/>
          <a:lstStyle/>
          <a:p>
            <a:pPr marL="0" indent="0" algn="l">
              <a:lnSpc>
                <a:spcPct val="120000"/>
              </a:lnSpc>
              <a:buNone/>
            </a:pPr>
            <a:r>
              <a:rPr lang="en-US" sz="1900" b="1" dirty="0">
                <a:solidFill>
                  <a:srgbClr val="6B4A2A"/>
                </a:solidFill>
                <a:latin typeface="Calibri" pitchFamily="34" charset="0"/>
                <a:ea typeface="Calibri" pitchFamily="34" charset="-122"/>
                <a:cs typeface="Calibri" pitchFamily="34" charset="-120"/>
              </a:rPr>
              <a:t>Dr. Yohn Parra-Bautista</a:t>
            </a:r>
            <a:endParaRPr lang="en-US" sz="1900" dirty="0"/>
          </a:p>
          <a:p>
            <a:pPr marL="0" indent="0" algn="l">
              <a:lnSpc>
                <a:spcPct val="120000"/>
              </a:lnSpc>
              <a:buNone/>
            </a:pPr>
            <a:r>
              <a:rPr lang="en-US" sz="1600" dirty="0">
                <a:solidFill>
                  <a:srgbClr val="55661A"/>
                </a:solidFill>
                <a:latin typeface="Calibri" pitchFamily="34" charset="0"/>
                <a:ea typeface="Calibri" pitchFamily="34" charset="-122"/>
                <a:cs typeface="Calibri" pitchFamily="34" charset="-120"/>
              </a:rPr>
              <a:t>Faculty Participant</a:t>
            </a:r>
            <a:endParaRPr lang="en-US" sz="1900" dirty="0"/>
          </a:p>
          <a:p>
            <a:pPr marL="0" indent="0" algn="l">
              <a:lnSpc>
                <a:spcPct val="120000"/>
              </a:lnSpc>
              <a:buNone/>
            </a:pPr>
            <a:r>
              <a:rPr lang="en-US" sz="1500" dirty="0">
                <a:solidFill>
                  <a:srgbClr val="3A2E22"/>
                </a:solidFill>
                <a:latin typeface="Calibri" pitchFamily="34" charset="0"/>
                <a:ea typeface="Calibri" pitchFamily="34" charset="-122"/>
                <a:cs typeface="Calibri" pitchFamily="34" charset="-120"/>
              </a:rPr>
              <a:t>Florida A&amp;M University</a:t>
            </a:r>
            <a:endParaRPr lang="en-US" sz="1900" dirty="0"/>
          </a:p>
          <a:p>
            <a:pPr marL="0" indent="0" algn="l">
              <a:lnSpc>
                <a:spcPct val="120000"/>
              </a:lnSpc>
              <a:buNone/>
            </a:pPr>
            <a:r>
              <a:rPr lang="en-US" sz="1500" dirty="0">
                <a:solidFill>
                  <a:srgbClr val="8A7B68"/>
                </a:solidFill>
                <a:latin typeface="Calibri" pitchFamily="34" charset="0"/>
                <a:ea typeface="Calibri" pitchFamily="34" charset="-122"/>
                <a:cs typeface="Calibri" pitchFamily="34" charset="-120"/>
              </a:rPr>
              <a:t>yohn.parrabautista@famu.edu</a:t>
            </a:r>
            <a:endParaRPr lang="en-US" sz="1900" dirty="0"/>
          </a:p>
        </p:txBody>
      </p:sp>
      <p:sp>
        <p:nvSpPr>
          <p:cNvPr id="86" name="Shape 82"/>
          <p:cNvSpPr/>
          <p:nvPr/>
        </p:nvSpPr>
        <p:spPr>
          <a:xfrm>
            <a:off x="9601200" y="35438455"/>
            <a:ext cx="1005840" cy="1005840"/>
          </a:xfrm>
          <a:prstGeom prst="ellipse">
            <a:avLst/>
          </a:prstGeom>
          <a:solidFill>
            <a:srgbClr val="F1ECE0"/>
          </a:solidFill>
          <a:ln w="12700">
            <a:solidFill>
              <a:srgbClr val="E4DCCB"/>
            </a:solidFill>
            <a:prstDash val="solid"/>
          </a:ln>
        </p:spPr>
        <p:txBody>
          <a:bodyPr/>
          <a:lstStyle/>
          <a:p>
            <a:endParaRPr lang="en-US"/>
          </a:p>
        </p:txBody>
      </p:sp>
      <p:sp>
        <p:nvSpPr>
          <p:cNvPr id="87" name="Text 83"/>
          <p:cNvSpPr/>
          <p:nvPr/>
        </p:nvSpPr>
        <p:spPr>
          <a:xfrm>
            <a:off x="9601200" y="35438455"/>
            <a:ext cx="1005840" cy="1005840"/>
          </a:xfrm>
          <a:prstGeom prst="rect">
            <a:avLst/>
          </a:prstGeom>
          <a:noFill/>
          <a:ln/>
        </p:spPr>
        <p:txBody>
          <a:bodyPr wrap="square" lIns="0" tIns="0" rIns="0" bIns="0" rtlCol="0" anchor="ctr"/>
          <a:lstStyle/>
          <a:p>
            <a:pPr marL="0" indent="0" algn="ctr">
              <a:buNone/>
            </a:pPr>
            <a:r>
              <a:rPr lang="en-US" sz="1200" i="1" dirty="0">
                <a:solidFill>
                  <a:srgbClr val="8A7B68"/>
                </a:solidFill>
                <a:latin typeface="Calibri" pitchFamily="34" charset="0"/>
                <a:ea typeface="Calibri" pitchFamily="34" charset="-122"/>
                <a:cs typeface="Calibri" pitchFamily="34" charset="-120"/>
              </a:rPr>
              <a:t>[photo]</a:t>
            </a:r>
            <a:endParaRPr lang="en-US" sz="1200" dirty="0"/>
          </a:p>
        </p:txBody>
      </p:sp>
      <p:sp>
        <p:nvSpPr>
          <p:cNvPr id="88" name="Text 84"/>
          <p:cNvSpPr/>
          <p:nvPr/>
        </p:nvSpPr>
        <p:spPr>
          <a:xfrm>
            <a:off x="10789920" y="35438455"/>
            <a:ext cx="7040880" cy="1828800"/>
          </a:xfrm>
          <a:prstGeom prst="rect">
            <a:avLst/>
          </a:prstGeom>
          <a:noFill/>
          <a:ln/>
        </p:spPr>
        <p:txBody>
          <a:bodyPr wrap="square" lIns="0" tIns="0" rIns="0" bIns="0" rtlCol="0" anchor="t"/>
          <a:lstStyle/>
          <a:p>
            <a:pPr marL="0" indent="0" algn="l">
              <a:lnSpc>
                <a:spcPct val="120000"/>
              </a:lnSpc>
              <a:buNone/>
            </a:pPr>
            <a:r>
              <a:rPr lang="en-US" sz="1900" b="1" dirty="0">
                <a:solidFill>
                  <a:srgbClr val="6B4A2A"/>
                </a:solidFill>
                <a:latin typeface="Calibri" pitchFamily="34" charset="0"/>
                <a:ea typeface="Calibri" pitchFamily="34" charset="-122"/>
                <a:cs typeface="Calibri" pitchFamily="34" charset="-120"/>
              </a:rPr>
              <a:t>[Name]</a:t>
            </a:r>
            <a:endParaRPr lang="en-US" sz="1900" dirty="0"/>
          </a:p>
          <a:p>
            <a:pPr marL="0" indent="0" algn="l">
              <a:lnSpc>
                <a:spcPct val="120000"/>
              </a:lnSpc>
              <a:buNone/>
            </a:pPr>
            <a:r>
              <a:rPr lang="en-US" sz="1600" dirty="0">
                <a:solidFill>
                  <a:srgbClr val="55661A"/>
                </a:solidFill>
                <a:latin typeface="Calibri" pitchFamily="34" charset="0"/>
                <a:ea typeface="Calibri" pitchFamily="34" charset="-122"/>
                <a:cs typeface="Calibri" pitchFamily="34" charset="-120"/>
              </a:rPr>
              <a:t>Faculty Mentor</a:t>
            </a:r>
            <a:endParaRPr lang="en-US" sz="1900" dirty="0"/>
          </a:p>
          <a:p>
            <a:pPr marL="0" indent="0" algn="l">
              <a:lnSpc>
                <a:spcPct val="120000"/>
              </a:lnSpc>
              <a:buNone/>
            </a:pPr>
            <a:r>
              <a:rPr lang="en-US" sz="1500" dirty="0">
                <a:solidFill>
                  <a:srgbClr val="3A2E22"/>
                </a:solidFill>
                <a:latin typeface="Calibri" pitchFamily="34" charset="0"/>
                <a:ea typeface="Calibri" pitchFamily="34" charset="-122"/>
                <a:cs typeface="Calibri" pitchFamily="34" charset="-120"/>
              </a:rPr>
              <a:t>[Institution]</a:t>
            </a:r>
            <a:endParaRPr lang="en-US" sz="1900" dirty="0"/>
          </a:p>
          <a:p>
            <a:pPr marL="0" indent="0" algn="l">
              <a:lnSpc>
                <a:spcPct val="120000"/>
              </a:lnSpc>
              <a:buNone/>
            </a:pPr>
            <a:r>
              <a:rPr lang="en-US" sz="1500" dirty="0">
                <a:solidFill>
                  <a:srgbClr val="8A7B68"/>
                </a:solidFill>
                <a:latin typeface="Calibri" pitchFamily="34" charset="0"/>
                <a:ea typeface="Calibri" pitchFamily="34" charset="-122"/>
                <a:cs typeface="Calibri" pitchFamily="34" charset="-120"/>
              </a:rPr>
              <a:t>[email]</a:t>
            </a:r>
            <a:endParaRPr lang="en-US" sz="1900" dirty="0"/>
          </a:p>
        </p:txBody>
      </p:sp>
      <p:sp>
        <p:nvSpPr>
          <p:cNvPr id="92" name="Shape 88"/>
          <p:cNvSpPr/>
          <p:nvPr/>
        </p:nvSpPr>
        <p:spPr>
          <a:xfrm>
            <a:off x="0" y="37673280"/>
            <a:ext cx="27432000" cy="3474720"/>
          </a:xfrm>
          <a:prstGeom prst="rect">
            <a:avLst/>
          </a:prstGeom>
          <a:solidFill>
            <a:srgbClr val="6B4A2A"/>
          </a:solidFill>
          <a:ln/>
        </p:spPr>
        <p:txBody>
          <a:bodyPr/>
          <a:lstStyle/>
          <a:p>
            <a:endParaRPr lang="en-US"/>
          </a:p>
        </p:txBody>
      </p:sp>
      <p:sp>
        <p:nvSpPr>
          <p:cNvPr id="93" name="Text 89"/>
          <p:cNvSpPr/>
          <p:nvPr/>
        </p:nvSpPr>
        <p:spPr>
          <a:xfrm>
            <a:off x="685800" y="37974270"/>
            <a:ext cx="12801600" cy="411480"/>
          </a:xfrm>
          <a:prstGeom prst="rect">
            <a:avLst/>
          </a:prstGeom>
          <a:noFill/>
          <a:ln/>
        </p:spPr>
        <p:txBody>
          <a:bodyPr wrap="square" lIns="0" tIns="0" rIns="0" bIns="0" rtlCol="0" anchor="ctr"/>
          <a:lstStyle/>
          <a:p>
            <a:pPr marL="0" indent="0">
              <a:buNone/>
            </a:pPr>
            <a:r>
              <a:rPr lang="en-US" sz="2800" b="1" kern="0" spc="120" dirty="0">
                <a:solidFill>
                  <a:srgbClr val="DACBB0"/>
                </a:solidFill>
                <a:latin typeface="Calibri" pitchFamily="34" charset="0"/>
                <a:ea typeface="Calibri" pitchFamily="34" charset="-122"/>
                <a:cs typeface="Calibri" pitchFamily="34" charset="-120"/>
              </a:rPr>
              <a:t>PROJECT GITHUB REPO</a:t>
            </a:r>
            <a:endParaRPr lang="en-US" sz="2800" dirty="0">
              <a:solidFill>
                <a:srgbClr val="DACBB0"/>
              </a:solidFill>
            </a:endParaRPr>
          </a:p>
        </p:txBody>
      </p:sp>
      <p:sp>
        <p:nvSpPr>
          <p:cNvPr id="94" name="Text 90"/>
          <p:cNvSpPr/>
          <p:nvPr/>
        </p:nvSpPr>
        <p:spPr>
          <a:xfrm>
            <a:off x="1219200" y="38442138"/>
            <a:ext cx="11220450" cy="438912"/>
          </a:xfrm>
          <a:prstGeom prst="rect">
            <a:avLst/>
          </a:prstGeom>
          <a:noFill/>
          <a:ln/>
        </p:spPr>
        <p:txBody>
          <a:bodyPr wrap="square" lIns="0" tIns="0" rIns="0" bIns="0" rtlCol="0" anchor="ctr"/>
          <a:lstStyle/>
          <a:p>
            <a:pPr marL="0" indent="0">
              <a:buNone/>
            </a:pPr>
            <a:r>
              <a:rPr lang="en-US" sz="2800" dirty="0" err="1">
                <a:solidFill>
                  <a:schemeClr val="bg1"/>
                </a:solidFill>
                <a:latin typeface="Calibri" pitchFamily="34" charset="0"/>
                <a:ea typeface="Calibri" pitchFamily="34" charset="-122"/>
                <a:cs typeface="Calibri" pitchFamily="34" charset="-120"/>
              </a:rPr>
              <a:t>github.com</a:t>
            </a:r>
            <a:r>
              <a:rPr lang="en-US" sz="2800" dirty="0">
                <a:solidFill>
                  <a:schemeClr val="bg1"/>
                </a:solidFill>
                <a:latin typeface="Calibri" pitchFamily="34" charset="0"/>
                <a:ea typeface="Calibri" pitchFamily="34" charset="-122"/>
                <a:cs typeface="Calibri" pitchFamily="34" charset="-120"/>
              </a:rPr>
              <a:t>/</a:t>
            </a:r>
            <a:r>
              <a:rPr lang="en-US" sz="2800" dirty="0" err="1">
                <a:solidFill>
                  <a:schemeClr val="bg1"/>
                </a:solidFill>
                <a:latin typeface="Calibri" pitchFamily="34" charset="0"/>
                <a:ea typeface="Calibri" pitchFamily="34" charset="-122"/>
                <a:cs typeface="Calibri" pitchFamily="34" charset="-120"/>
              </a:rPr>
              <a:t>Yohn</a:t>
            </a:r>
            <a:r>
              <a:rPr lang="en-US" sz="2800" dirty="0">
                <a:solidFill>
                  <a:schemeClr val="bg1"/>
                </a:solidFill>
                <a:latin typeface="Calibri" pitchFamily="34" charset="0"/>
                <a:ea typeface="Calibri" pitchFamily="34" charset="-122"/>
                <a:cs typeface="Calibri" pitchFamily="34" charset="-120"/>
              </a:rPr>
              <a:t>-Parra</a:t>
            </a:r>
            <a:endParaRPr lang="en-US" sz="2800" dirty="0">
              <a:solidFill>
                <a:schemeClr val="bg1"/>
              </a:solidFill>
            </a:endParaRPr>
          </a:p>
        </p:txBody>
      </p:sp>
      <p:pic>
        <p:nvPicPr>
          <p:cNvPr id="132" name="Picture 131">
            <a:extLst>
              <a:ext uri="{FF2B5EF4-FFF2-40B4-BE49-F238E27FC236}">
                <a16:creationId xmlns:a16="http://schemas.microsoft.com/office/drawing/2014/main" id="{2B7E8A16-E1BE-C2A1-7F9F-389D23DE05F6}"/>
              </a:ext>
            </a:extLst>
          </p:cNvPr>
          <p:cNvPicPr>
            <a:picLocks noChangeAspect="1"/>
          </p:cNvPicPr>
          <p:nvPr/>
        </p:nvPicPr>
        <p:blipFill>
          <a:blip r:embed="rId3"/>
          <a:stretch>
            <a:fillRect/>
          </a:stretch>
        </p:blipFill>
        <p:spPr>
          <a:xfrm>
            <a:off x="20329241" y="32465315"/>
            <a:ext cx="7557973" cy="7557973"/>
          </a:xfrm>
          <a:prstGeom prst="rect">
            <a:avLst/>
          </a:prstGeom>
        </p:spPr>
      </p:pic>
      <p:sp>
        <p:nvSpPr>
          <p:cNvPr id="95" name="Text 91"/>
          <p:cNvSpPr/>
          <p:nvPr/>
        </p:nvSpPr>
        <p:spPr>
          <a:xfrm>
            <a:off x="685800" y="38934390"/>
            <a:ext cx="18745200" cy="548640"/>
          </a:xfrm>
          <a:prstGeom prst="rect">
            <a:avLst/>
          </a:prstGeom>
          <a:noFill/>
          <a:ln/>
        </p:spPr>
        <p:txBody>
          <a:bodyPr wrap="square" lIns="0" tIns="0" rIns="0" bIns="0" rtlCol="0" anchor="ctr"/>
          <a:lstStyle/>
          <a:p>
            <a:pPr marL="0" indent="0">
              <a:buNone/>
            </a:pPr>
            <a:r>
              <a:rPr lang="en-US" sz="2400" dirty="0">
                <a:solidFill>
                  <a:srgbClr val="C9BCA3"/>
                </a:solidFill>
                <a:latin typeface="Calibri" pitchFamily="34" charset="0"/>
                <a:ea typeface="Calibri" pitchFamily="34" charset="-122"/>
                <a:cs typeface="Calibri" pitchFamily="34" charset="-120"/>
              </a:rPr>
              <a:t>Sponsors: SGX3  ·  National Science Foundation  ·  ORNL  ·  </a:t>
            </a:r>
            <a:r>
              <a:rPr lang="en-US" sz="2400" dirty="0" err="1">
                <a:solidFill>
                  <a:srgbClr val="C9BCA3"/>
                </a:solidFill>
                <a:latin typeface="Calibri" pitchFamily="34" charset="0"/>
                <a:ea typeface="Calibri" pitchFamily="34" charset="-122"/>
                <a:cs typeface="Calibri" pitchFamily="34" charset="-120"/>
              </a:rPr>
              <a:t>Omnibond</a:t>
            </a:r>
            <a:r>
              <a:rPr lang="en-US" sz="2400" dirty="0">
                <a:solidFill>
                  <a:srgbClr val="C9BCA3"/>
                </a:solidFill>
                <a:latin typeface="Calibri" pitchFamily="34" charset="0"/>
                <a:ea typeface="Calibri" pitchFamily="34" charset="-122"/>
                <a:cs typeface="Calibri" pitchFamily="34" charset="-120"/>
              </a:rPr>
              <a:t>  ·  TACC  ·  HackHPC</a:t>
            </a:r>
            <a:endParaRPr lang="en-US" sz="2400" dirty="0"/>
          </a:p>
        </p:txBody>
      </p:sp>
      <p:sp>
        <p:nvSpPr>
          <p:cNvPr id="102" name="Rounded Rectangle 101">
            <a:extLst>
              <a:ext uri="{FF2B5EF4-FFF2-40B4-BE49-F238E27FC236}">
                <a16:creationId xmlns:a16="http://schemas.microsoft.com/office/drawing/2014/main" id="{2BFFB601-E1CE-E3E6-5A51-4EEE60F8D9D6}"/>
              </a:ext>
            </a:extLst>
          </p:cNvPr>
          <p:cNvSpPr/>
          <p:nvPr/>
        </p:nvSpPr>
        <p:spPr>
          <a:xfrm>
            <a:off x="145143" y="246743"/>
            <a:ext cx="5355771" cy="3017665"/>
          </a:xfrm>
          <a:prstGeom prst="roundRect">
            <a:avLst/>
          </a:prstGeom>
          <a:solidFill>
            <a:schemeClr val="bg1"/>
          </a:solidFill>
          <a:ln w="57150">
            <a:solidFill>
              <a:srgbClr val="5B3C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1" name="Picture 100">
            <a:extLst>
              <a:ext uri="{FF2B5EF4-FFF2-40B4-BE49-F238E27FC236}">
                <a16:creationId xmlns:a16="http://schemas.microsoft.com/office/drawing/2014/main" id="{9EBF381E-CFBD-4F06-FA02-91B6137AFBBB}"/>
              </a:ext>
            </a:extLst>
          </p:cNvPr>
          <p:cNvPicPr>
            <a:picLocks noChangeAspect="1"/>
          </p:cNvPicPr>
          <p:nvPr/>
        </p:nvPicPr>
        <p:blipFill>
          <a:blip r:embed="rId4"/>
          <a:stretch>
            <a:fillRect/>
          </a:stretch>
        </p:blipFill>
        <p:spPr>
          <a:xfrm>
            <a:off x="498739" y="281635"/>
            <a:ext cx="4671975" cy="2627986"/>
          </a:xfrm>
          <a:prstGeom prst="rect">
            <a:avLst/>
          </a:prstGeom>
        </p:spPr>
      </p:pic>
      <p:sp>
        <p:nvSpPr>
          <p:cNvPr id="103" name="Rounded Rectangle 102">
            <a:extLst>
              <a:ext uri="{FF2B5EF4-FFF2-40B4-BE49-F238E27FC236}">
                <a16:creationId xmlns:a16="http://schemas.microsoft.com/office/drawing/2014/main" id="{5D223258-495F-4ED0-21C7-B41C8F3834E0}"/>
              </a:ext>
            </a:extLst>
          </p:cNvPr>
          <p:cNvSpPr/>
          <p:nvPr/>
        </p:nvSpPr>
        <p:spPr>
          <a:xfrm>
            <a:off x="16897350" y="38004750"/>
            <a:ext cx="10188666" cy="2994975"/>
          </a:xfrm>
          <a:prstGeom prst="roundRect">
            <a:avLst/>
          </a:prstGeom>
          <a:solidFill>
            <a:srgbClr val="FFFFFF"/>
          </a:solidFill>
          <a:ln w="57150">
            <a:solidFill>
              <a:srgbClr val="5B3C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 94"/>
          <p:cNvSpPr/>
          <p:nvPr/>
        </p:nvSpPr>
        <p:spPr>
          <a:xfrm>
            <a:off x="17373600" y="40146638"/>
            <a:ext cx="6762750" cy="594360"/>
          </a:xfrm>
          <a:prstGeom prst="rect">
            <a:avLst/>
          </a:prstGeom>
          <a:noFill/>
          <a:ln/>
        </p:spPr>
        <p:txBody>
          <a:bodyPr wrap="square" lIns="0" tIns="0" rIns="0" bIns="0" rtlCol="0" anchor="ctr" anchorCtr="0"/>
          <a:lstStyle/>
          <a:p>
            <a:pPr marL="0" indent="0" algn="r">
              <a:lnSpc>
                <a:spcPct val="120000"/>
              </a:lnSpc>
              <a:buNone/>
            </a:pPr>
            <a:r>
              <a:rPr lang="en-US" sz="2400" dirty="0" err="1">
                <a:latin typeface="Consolas" panose="020B0609020204030204" pitchFamily="49" charset="0"/>
                <a:ea typeface="Calibri" pitchFamily="34" charset="-122"/>
                <a:cs typeface="Consolas" panose="020B0609020204030204" pitchFamily="49" charset="0"/>
              </a:rPr>
              <a:t>hackhpc.github.io</a:t>
            </a:r>
            <a:r>
              <a:rPr lang="en-US" sz="2400" dirty="0">
                <a:latin typeface="Consolas" panose="020B0609020204030204" pitchFamily="49" charset="0"/>
                <a:ea typeface="Calibri" pitchFamily="34" charset="-122"/>
                <a:cs typeface="Consolas" panose="020B0609020204030204" pitchFamily="49" charset="0"/>
              </a:rPr>
              <a:t>/facultyhack-gateways26</a:t>
            </a:r>
            <a:endParaRPr lang="en-US" sz="2400" dirty="0">
              <a:latin typeface="Consolas" panose="020B0609020204030204" pitchFamily="49" charset="0"/>
              <a:cs typeface="Consolas" panose="020B0609020204030204" pitchFamily="49" charset="0"/>
            </a:endParaRPr>
          </a:p>
        </p:txBody>
      </p:sp>
      <p:pic>
        <p:nvPicPr>
          <p:cNvPr id="97" name="Image 0" descr="/home/claude/poster/assets/event_qr.png"/>
          <p:cNvPicPr>
            <a:picLocks noChangeAspect="1"/>
          </p:cNvPicPr>
          <p:nvPr/>
        </p:nvPicPr>
        <p:blipFill>
          <a:blip r:embed="rId5"/>
          <a:stretch>
            <a:fillRect/>
          </a:stretch>
        </p:blipFill>
        <p:spPr>
          <a:xfrm>
            <a:off x="24269700" y="38246151"/>
            <a:ext cx="2495550" cy="2495550"/>
          </a:xfrm>
          <a:prstGeom prst="rect">
            <a:avLst/>
          </a:prstGeom>
        </p:spPr>
      </p:pic>
      <p:pic>
        <p:nvPicPr>
          <p:cNvPr id="106" name="Picture 105">
            <a:extLst>
              <a:ext uri="{FF2B5EF4-FFF2-40B4-BE49-F238E27FC236}">
                <a16:creationId xmlns:a16="http://schemas.microsoft.com/office/drawing/2014/main" id="{BFAA7CBD-BA2A-BE48-1367-95A441E6C885}"/>
              </a:ext>
            </a:extLst>
          </p:cNvPr>
          <p:cNvPicPr>
            <a:picLocks noChangeAspect="1"/>
          </p:cNvPicPr>
          <p:nvPr/>
        </p:nvPicPr>
        <p:blipFill>
          <a:blip r:embed="rId6"/>
          <a:stretch>
            <a:fillRect/>
          </a:stretch>
        </p:blipFill>
        <p:spPr>
          <a:xfrm>
            <a:off x="17038320" y="38176201"/>
            <a:ext cx="7744090" cy="2070202"/>
          </a:xfrm>
          <a:prstGeom prst="rect">
            <a:avLst/>
          </a:prstGeom>
        </p:spPr>
      </p:pic>
      <p:pic>
        <p:nvPicPr>
          <p:cNvPr id="118" name="Graphic 117">
            <a:extLst>
              <a:ext uri="{FF2B5EF4-FFF2-40B4-BE49-F238E27FC236}">
                <a16:creationId xmlns:a16="http://schemas.microsoft.com/office/drawing/2014/main" id="{66911063-24C3-366F-ECF4-6D5CC54EA63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418542" y="692206"/>
            <a:ext cx="1310610" cy="1310610"/>
          </a:xfrm>
          <a:prstGeom prst="rect">
            <a:avLst/>
          </a:prstGeom>
        </p:spPr>
      </p:pic>
      <p:sp>
        <p:nvSpPr>
          <p:cNvPr id="127" name="Rounded Rectangle 126">
            <a:extLst>
              <a:ext uri="{FF2B5EF4-FFF2-40B4-BE49-F238E27FC236}">
                <a16:creationId xmlns:a16="http://schemas.microsoft.com/office/drawing/2014/main" id="{E6411B07-84E9-624F-0716-29C0D60F67A0}"/>
              </a:ext>
            </a:extLst>
          </p:cNvPr>
          <p:cNvSpPr/>
          <p:nvPr/>
        </p:nvSpPr>
        <p:spPr>
          <a:xfrm>
            <a:off x="552450" y="39528750"/>
            <a:ext cx="13239750" cy="1390650"/>
          </a:xfrm>
          <a:prstGeom prst="roundRect">
            <a:avLst/>
          </a:prstGeom>
          <a:solidFill>
            <a:srgbClr val="FFFFFF"/>
          </a:solidFill>
          <a:ln w="38100">
            <a:solidFill>
              <a:srgbClr val="5B3C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TextBox 118">
            <a:extLst>
              <a:ext uri="{FF2B5EF4-FFF2-40B4-BE49-F238E27FC236}">
                <a16:creationId xmlns:a16="http://schemas.microsoft.com/office/drawing/2014/main" id="{42D05EC9-5BDF-BA7D-A67A-D2576C37846F}"/>
              </a:ext>
            </a:extLst>
          </p:cNvPr>
          <p:cNvSpPr txBox="1"/>
          <p:nvPr/>
        </p:nvSpPr>
        <p:spPr>
          <a:xfrm>
            <a:off x="24715694" y="2057262"/>
            <a:ext cx="2716306" cy="738664"/>
          </a:xfrm>
          <a:prstGeom prst="rect">
            <a:avLst/>
          </a:prstGeom>
          <a:noFill/>
        </p:spPr>
        <p:txBody>
          <a:bodyPr wrap="square" rtlCol="0">
            <a:spAutoFit/>
          </a:bodyPr>
          <a:lstStyle/>
          <a:p>
            <a:pPr algn="ctr"/>
            <a:r>
              <a:rPr lang="en-US" dirty="0">
                <a:solidFill>
                  <a:srgbClr val="F7E8C9"/>
                </a:solidFill>
              </a:rPr>
              <a:t>SGX3 is funded by the </a:t>
            </a:r>
            <a:br>
              <a:rPr lang="en-US" dirty="0">
                <a:solidFill>
                  <a:srgbClr val="F7E8C9"/>
                </a:solidFill>
              </a:rPr>
            </a:br>
            <a:r>
              <a:rPr lang="en-US" dirty="0">
                <a:solidFill>
                  <a:srgbClr val="F7E8C9"/>
                </a:solidFill>
              </a:rPr>
              <a:t>National Science Foundation </a:t>
            </a:r>
            <a:br>
              <a:rPr lang="en-US" dirty="0">
                <a:solidFill>
                  <a:srgbClr val="F7E8C9"/>
                </a:solidFill>
              </a:rPr>
            </a:br>
            <a:r>
              <a:rPr lang="en-US" dirty="0">
                <a:solidFill>
                  <a:srgbClr val="F7E8C9"/>
                </a:solidFill>
              </a:rPr>
              <a:t>under award number 2231406.</a:t>
            </a:r>
          </a:p>
        </p:txBody>
      </p:sp>
      <p:pic>
        <p:nvPicPr>
          <p:cNvPr id="126" name="Graphic 125" descr="File:Octicons-mark-github.svg - Wikimedia Commons">
            <a:extLst>
              <a:ext uri="{FF2B5EF4-FFF2-40B4-BE49-F238E27FC236}">
                <a16:creationId xmlns:a16="http://schemas.microsoft.com/office/drawing/2014/main" id="{2DEDB063-5C22-682E-DADA-F43E2F9AA0B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80314" y="38401417"/>
            <a:ext cx="462686" cy="462686"/>
          </a:xfrm>
          <a:prstGeom prst="rect">
            <a:avLst/>
          </a:prstGeom>
        </p:spPr>
      </p:pic>
      <p:grpSp>
        <p:nvGrpSpPr>
          <p:cNvPr id="129" name="Group 128">
            <a:extLst>
              <a:ext uri="{FF2B5EF4-FFF2-40B4-BE49-F238E27FC236}">
                <a16:creationId xmlns:a16="http://schemas.microsoft.com/office/drawing/2014/main" id="{F065583D-A13E-F341-15DB-8AF39BE705FB}"/>
              </a:ext>
            </a:extLst>
          </p:cNvPr>
          <p:cNvGrpSpPr/>
          <p:nvPr/>
        </p:nvGrpSpPr>
        <p:grpSpPr>
          <a:xfrm>
            <a:off x="967531" y="39862760"/>
            <a:ext cx="12447689" cy="951231"/>
            <a:chOff x="1268311" y="39757350"/>
            <a:chExt cx="12447689" cy="951231"/>
          </a:xfrm>
        </p:grpSpPr>
        <p:pic>
          <p:nvPicPr>
            <p:cNvPr id="122" name="Google Shape;70;p15">
              <a:extLst>
                <a:ext uri="{FF2B5EF4-FFF2-40B4-BE49-F238E27FC236}">
                  <a16:creationId xmlns:a16="http://schemas.microsoft.com/office/drawing/2014/main" id="{42242A5D-5C93-F783-0BBE-B9F048051AB4}"/>
                </a:ext>
              </a:extLst>
            </p:cNvPr>
            <p:cNvPicPr preferRelativeResize="0"/>
            <p:nvPr/>
          </p:nvPicPr>
          <p:blipFill rotWithShape="1">
            <a:blip r:embed="rId9">
              <a:alphaModFix/>
            </a:blip>
            <a:srcRect/>
            <a:stretch/>
          </p:blipFill>
          <p:spPr>
            <a:xfrm>
              <a:off x="1268311" y="39757350"/>
              <a:ext cx="2604093" cy="777756"/>
            </a:xfrm>
            <a:prstGeom prst="rect">
              <a:avLst/>
            </a:prstGeom>
            <a:noFill/>
            <a:ln>
              <a:noFill/>
            </a:ln>
          </p:spPr>
        </p:pic>
        <p:pic>
          <p:nvPicPr>
            <p:cNvPr id="123" name="Google Shape;71;p15" descr="A green and white logo&#10;&#10;Description automatically generated">
              <a:extLst>
                <a:ext uri="{FF2B5EF4-FFF2-40B4-BE49-F238E27FC236}">
                  <a16:creationId xmlns:a16="http://schemas.microsoft.com/office/drawing/2014/main" id="{7B7A9E83-521F-8B2F-3F26-C296686CE75B}"/>
                </a:ext>
              </a:extLst>
            </p:cNvPr>
            <p:cNvPicPr preferRelativeResize="0"/>
            <p:nvPr/>
          </p:nvPicPr>
          <p:blipFill rotWithShape="1">
            <a:blip r:embed="rId10">
              <a:alphaModFix/>
            </a:blip>
            <a:srcRect/>
            <a:stretch/>
          </p:blipFill>
          <p:spPr>
            <a:xfrm>
              <a:off x="3979096" y="39757350"/>
              <a:ext cx="1851047" cy="951231"/>
            </a:xfrm>
            <a:prstGeom prst="rect">
              <a:avLst/>
            </a:prstGeom>
            <a:noFill/>
            <a:ln>
              <a:noFill/>
            </a:ln>
          </p:spPr>
        </p:pic>
        <p:pic>
          <p:nvPicPr>
            <p:cNvPr id="124" name="Google Shape;72;p15" descr="A blue and orange logo&#10;&#10;Description automatically generated">
              <a:extLst>
                <a:ext uri="{FF2B5EF4-FFF2-40B4-BE49-F238E27FC236}">
                  <a16:creationId xmlns:a16="http://schemas.microsoft.com/office/drawing/2014/main" id="{96B11CD3-5471-BCC6-4E1D-9968793C45CE}"/>
                </a:ext>
              </a:extLst>
            </p:cNvPr>
            <p:cNvPicPr preferRelativeResize="0"/>
            <p:nvPr/>
          </p:nvPicPr>
          <p:blipFill rotWithShape="1">
            <a:blip r:embed="rId11">
              <a:alphaModFix/>
            </a:blip>
            <a:srcRect/>
            <a:stretch/>
          </p:blipFill>
          <p:spPr>
            <a:xfrm>
              <a:off x="5936835" y="39757350"/>
              <a:ext cx="2781357" cy="797386"/>
            </a:xfrm>
            <a:prstGeom prst="rect">
              <a:avLst/>
            </a:prstGeom>
            <a:noFill/>
            <a:ln>
              <a:noFill/>
            </a:ln>
          </p:spPr>
        </p:pic>
        <p:pic>
          <p:nvPicPr>
            <p:cNvPr id="125" name="Google Shape;73;p15">
              <a:extLst>
                <a:ext uri="{FF2B5EF4-FFF2-40B4-BE49-F238E27FC236}">
                  <a16:creationId xmlns:a16="http://schemas.microsoft.com/office/drawing/2014/main" id="{2978B803-2680-4763-B377-778745434AC3}"/>
                </a:ext>
              </a:extLst>
            </p:cNvPr>
            <p:cNvPicPr preferRelativeResize="0"/>
            <p:nvPr/>
          </p:nvPicPr>
          <p:blipFill rotWithShape="1">
            <a:blip r:embed="rId12">
              <a:alphaModFix/>
            </a:blip>
            <a:srcRect/>
            <a:stretch/>
          </p:blipFill>
          <p:spPr>
            <a:xfrm>
              <a:off x="8824884" y="39757350"/>
              <a:ext cx="2036696" cy="797386"/>
            </a:xfrm>
            <a:prstGeom prst="rect">
              <a:avLst/>
            </a:prstGeom>
            <a:noFill/>
            <a:ln>
              <a:noFill/>
            </a:ln>
          </p:spPr>
        </p:pic>
        <p:pic>
          <p:nvPicPr>
            <p:cNvPr id="128" name="Graphic 127" descr="HackHPC">
              <a:extLst>
                <a:ext uri="{FF2B5EF4-FFF2-40B4-BE49-F238E27FC236}">
                  <a16:creationId xmlns:a16="http://schemas.microsoft.com/office/drawing/2014/main" id="{13516288-4EB2-5F78-7005-2E07A80CF58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968274" y="39757350"/>
              <a:ext cx="2747726" cy="735998"/>
            </a:xfrm>
            <a:prstGeom prst="rect">
              <a:avLst/>
            </a:prstGeom>
          </p:spPr>
        </p:pic>
      </p:grpSp>
      <p:pic>
        <p:nvPicPr>
          <p:cNvPr id="900" name="NRP Screenshot"/>
          <p:cNvPicPr>
            <a:picLocks noChangeAspect="1"/>
          </p:cNvPicPr>
          <p:nvPr/>
        </p:nvPicPr>
        <p:blipFill>
          <a:blip r:embed="rId14"/>
          <a:stretch>
            <a:fillRect/>
          </a:stretch>
        </p:blipFill>
        <p:spPr>
          <a:xfrm>
            <a:off x="9646920" y="18260568"/>
            <a:ext cx="8183880" cy="3535846"/>
          </a:xfrm>
          <a:prstGeom prst="rect">
            <a:avLst/>
          </a:prstGeom>
        </p:spPr>
      </p:pic>
      <p:pic>
        <p:nvPicPr>
          <p:cNvPr id="901" name="Final Project Workflow Diagram"/>
          <p:cNvPicPr>
            <a:picLocks noChangeAspect="1"/>
          </p:cNvPicPr>
          <p:nvPr/>
        </p:nvPicPr>
        <p:blipFill>
          <a:blip r:embed="rId15"/>
          <a:stretch>
            <a:fillRect/>
          </a:stretch>
        </p:blipFill>
        <p:spPr>
          <a:xfrm>
            <a:off x="18562320" y="12725400"/>
            <a:ext cx="7680960" cy="1645920"/>
          </a:xfrm>
          <a:prstGeom prst="rect">
            <a:avLst/>
          </a:prstGeom>
        </p:spPr>
      </p:pic>
      <p:pic>
        <p:nvPicPr>
          <p:cNvPr id="902" name="Faculty Headshot"/>
          <p:cNvPicPr>
            <a:picLocks noChangeAspect="1"/>
          </p:cNvPicPr>
          <p:nvPr/>
        </p:nvPicPr>
        <p:blipFill>
          <a:blip r:embed="rId16"/>
          <a:stretch>
            <a:fillRect/>
          </a:stretch>
        </p:blipFill>
        <p:spPr>
          <a:xfrm>
            <a:off x="914400" y="35438455"/>
            <a:ext cx="1005840" cy="1005840"/>
          </a:xfrm>
          <a:prstGeom prst="ellipse">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390</TotalTime>
  <Words>1686</Words>
  <Application>Microsoft Macintosh PowerPoint</Application>
  <PresentationFormat>Custom</PresentationFormat>
  <Paragraphs>107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vt:lpstr>
      <vt:lpstr>Consolas</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Parra Bautista, Yohn J.</cp:lastModifiedBy>
  <cp:revision>6</cp:revision>
  <dcterms:created xsi:type="dcterms:W3CDTF">2026-07-31T15:08:06Z</dcterms:created>
  <dcterms:modified xsi:type="dcterms:W3CDTF">2026-08-13T22:12:52Z</dcterms:modified>
</cp:coreProperties>
</file>